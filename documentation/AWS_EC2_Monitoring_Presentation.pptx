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c883e02-6b3d-6406-baed-dee88bbf7bb1}">
          <p14:sldIdLst>
            <p14:sldId id="256"/>
            <p14:sldId id="257"/>
            <p14:sldId id="258"/>
            <p14:sldId id="259"/>
          </p14:sldIdLst>
        </p14:section>
        <p14:section name="Setup" id="{aef7486e-93f2-937b-f107-702014bcb7c0}">
          <p14:sldIdLst>
            <p14:sldId id="260"/>
            <p14:sldId id="261"/>
            <p14:sldId id="262"/>
          </p14:sldIdLst>
        </p14:section>
        <p14:section name="Implementation" id="{ec534738-a21f-038d-d8df-b8473d81e9ba}">
          <p14:sldIdLst>
            <p14:sldId id="263"/>
            <p14:sldId id="264"/>
            <p14:sldId id="265"/>
            <p14:sldId id="266"/>
            <p14:sldId id="267"/>
            <p14:sldId id="268"/>
          </p14:sldIdLst>
        </p14:section>
        <p14:section name="Wrap-up" id="{a2135c4d-125d-a95f-785f-46b0c2b21797}">
          <p14:sldIdLst>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I am presenting my project: AWS EC2 Monitoring and Visualization using CloudWatch, Prometheus and Grafana.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objective is to monitor an EC2 instance and visualize its performance. CloudWatch shows basic EC2 metrics, Prometheus with Node Exporter collects Linux metrics, and Grafana shows them on a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Monitoring means continuously observing a system to understand its health and performance. If a website becomes slow, monitoring helps us find whether CPU, memory or availability is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tools used: EC2 for the server, Ubuntu as the OS, CloudWatch for AWS metrics, Prometheus and Node Exporter for Linux metrics, Grafana for dashboards, and PromQL for queries.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EC2 instance sends basic metrics to CloudWatch. On the same server, Node Exporter exposes Linux metrics on port 9100, Prometheus scrapes them and exposes its UI on port 9090, and Grafana queries Prometheus to show dashboards. CloudWatch and Prometheus are separate in our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launched an Ubuntu EC2 instance and configured its security group, which acts as a virtual firewall. Ports: 22 for SSH, 3000 for Grafana, 9090 for Prometheus and 9100 for Node Exporter. For a lab, restrict access to your own 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CloudWatch gives us basic EC2 metrics without installing anything: CPU utilization, network in and out, and status checks. We did not install the CloudWatch Agent, so Linux memory is collected using Node Exporter and Prometheus.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Node Exporter exposes Linux metrics such as CPU and memory at port 9100. Prometheus scrapes this endpoint periodically and stores the data as time series. Node Exporter does not store data and does not build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Ubuntu's package manager. First update the system, then install prometheus and prometheus-node-exporter, and finally enable and start both services with systemctl. To verify, check that the services are active and that the targets show UP in the Prometheus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Grafana was installed from its official repository. After starting the service, open port 3000, log in with the default admin credentials and change the password. Then add Prometheus as a data source using http://localhost:9090, because both run on the same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query finds the idle CPU rate, averages it per instance, converts it to a percentage, and subtracts it from 100 to get CPU usage. irate reacts quickly but can be noisy; rate gives a smoother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usage is the percentage of RAM that is not available. MemAvailable divided by MemTotal gives the available fraction, one minus that is the used fraction, and multiplying by 100 gives a percentage. CPU and memory are different measurements, so we monitor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separate flows. CloudWatch metrics are viewed in the AWS Console. Node Exporter metrics are scraped by Prometheus, queried by Grafana and shown on the dashboard. In future we can add CloudWatch as a Grafana data source to see both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things completed in the project: creating the instance, checking CloudWatch metrics, installing and starting Prometheus, Node Exporter and Grafana, connecting the data source, writing PromQL queries and building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limitations: CloudWatch and Prometheus are separate, there is no CloudWatch Agent, the dashboard is basic, and no alerting is configured. In future I plan to add CloudWatch to Grafana, set up alerts, add disk and network panels, and automate the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will show the live dashboard: the running EC2 instance, the Prometheus targets showing UP, the Grafana data source connection, and finally the CPU and memory 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Shape 1"/>
          <p:cNvSpPr/>
          <p:nvPr/>
        </p:nvSpPr>
        <p:spPr>
          <a:xfrm>
            <a:off x="6583680" y="-1097280"/>
            <a:ext cx="3840480" cy="3840480"/>
          </a:xfrm>
          <a:prstGeom prst="rect">
            <a:avLst/>
          </a:prstGeom>
          <a:solidFill>
            <a:schemeClr val="tx2"/>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AWS EC2 Monitoring  |  CloudWatch · Prometheus · Grafana</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3.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3.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slideLayout" Target="../slideLayouts/slideLayout3.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40080" y="1005840"/>
            <a:ext cx="7680960" cy="1371600"/>
          </a:xfrm>
          <a:prstGeom prst="rect">
            <a:avLst/>
          </a:prstGeom>
          <a:noFill/>
          <a:ln/>
        </p:spPr>
        <p:txBody>
          <a:bodyPr wrap="square" lIns="0" tIns="0" rIns="0" bIns="0" rtlCol="0" anchor="b"/>
          <a:lstStyle/>
          <a:p>
            <a:pPr algn="l" indent="0" marL="0">
              <a:buNone/>
            </a:pPr>
            <a:r>
              <a:rPr lang="en-US" sz="4000" b="1" dirty="0">
                <a:solidFill>
                  <a:schemeClr val="bg1"/>
                </a:solidFill>
              </a:rPr>
              <a:t>AWS EC2 Monitoring &amp; Visualization</a:t>
            </a:r>
            <a:endParaRPr lang="en-US" sz="4000" dirty="0"/>
          </a:p>
        </p:txBody>
      </p:sp>
      <p:sp>
        <p:nvSpPr>
          <p:cNvPr id="3" name="Text 1"/>
          <p:cNvSpPr/>
          <p:nvPr/>
        </p:nvSpPr>
        <p:spPr>
          <a:xfrm>
            <a:off x="640080" y="2468880"/>
            <a:ext cx="7680960" cy="640080"/>
          </a:xfrm>
          <a:prstGeom prst="rect">
            <a:avLst/>
          </a:prstGeom>
          <a:noFill/>
          <a:ln/>
        </p:spPr>
        <p:txBody>
          <a:bodyPr wrap="square" lIns="0" tIns="0" rIns="0" bIns="0" rtlCol="0" anchor="t"/>
          <a:lstStyle/>
          <a:p>
            <a:pPr algn="l" indent="0" marL="0">
              <a:buNone/>
            </a:pPr>
            <a:r>
              <a:rPr lang="en-US" sz="2000" dirty="0">
                <a:solidFill>
                  <a:schemeClr val="accent6"/>
                </a:solidFill>
              </a:rPr>
              <a:t>Using CloudWatch, Prometheus &amp; Grafana</a:t>
            </a:r>
            <a:endParaRPr lang="en-US" sz="2000" dirty="0"/>
          </a:p>
        </p:txBody>
      </p:sp>
      <p:sp>
        <p:nvSpPr>
          <p:cNvPr id="4" name="Icon circle"/>
          <p:cNvSpPr/>
          <p:nvPr/>
        </p:nvSpPr>
        <p:spPr>
          <a:xfrm>
            <a:off x="640080" y="3566160"/>
            <a:ext cx="640080" cy="640080"/>
          </a:xfrm>
          <a:prstGeom prst="ellipse">
            <a:avLst/>
          </a:prstGeom>
          <a:solidFill>
            <a:schemeClr val="accent3"/>
          </a:solidFill>
          <a:ln w="12700">
            <a:solidFill>
              <a:schemeClr val="accent3"/>
            </a:solidFill>
            <a:prstDash val="solid"/>
          </a:ln>
        </p:spPr>
      </p:sp>
      <p:pic>
        <p:nvPicPr>
          <p:cNvPr id="5" name="Image 0" descr="FaCloud">    </p:cNvPr>
          <p:cNvPicPr>
            <a:picLocks noChangeAspect="1"/>
          </p:cNvPicPr>
          <p:nvPr/>
        </p:nvPicPr>
        <p:blipFill>
          <a:blip r:embed="rId1"/>
          <a:stretch>
            <a:fillRect/>
          </a:stretch>
        </p:blipFill>
        <p:spPr>
          <a:xfrm>
            <a:off x="800100" y="3726180"/>
            <a:ext cx="320040" cy="320040"/>
          </a:xfrm>
          <a:prstGeom prst="rect">
            <a:avLst/>
          </a:prstGeom>
        </p:spPr>
      </p:pic>
      <p:sp>
        <p:nvSpPr>
          <p:cNvPr id="6" name="Icon circle"/>
          <p:cNvSpPr/>
          <p:nvPr/>
        </p:nvSpPr>
        <p:spPr>
          <a:xfrm>
            <a:off x="1463040" y="3566160"/>
            <a:ext cx="640080" cy="640080"/>
          </a:xfrm>
          <a:prstGeom prst="ellipse">
            <a:avLst/>
          </a:prstGeom>
          <a:solidFill>
            <a:schemeClr val="accent1"/>
          </a:solidFill>
          <a:ln w="12700">
            <a:solidFill>
              <a:schemeClr val="accent1"/>
            </a:solidFill>
            <a:prstDash val="solid"/>
          </a:ln>
        </p:spPr>
      </p:sp>
      <p:pic>
        <p:nvPicPr>
          <p:cNvPr id="7" name="Image 1" descr="FaDatabase">    </p:cNvPr>
          <p:cNvPicPr>
            <a:picLocks noChangeAspect="1"/>
          </p:cNvPicPr>
          <p:nvPr/>
        </p:nvPicPr>
        <p:blipFill>
          <a:blip r:embed="rId2"/>
          <a:stretch>
            <a:fillRect/>
          </a:stretch>
        </p:blipFill>
        <p:spPr>
          <a:xfrm>
            <a:off x="1623060" y="3726180"/>
            <a:ext cx="320040" cy="320040"/>
          </a:xfrm>
          <a:prstGeom prst="rect">
            <a:avLst/>
          </a:prstGeom>
        </p:spPr>
      </p:pic>
      <p:sp>
        <p:nvSpPr>
          <p:cNvPr id="8" name="Icon circle"/>
          <p:cNvSpPr/>
          <p:nvPr/>
        </p:nvSpPr>
        <p:spPr>
          <a:xfrm>
            <a:off x="2286000" y="3566160"/>
            <a:ext cx="640080" cy="640080"/>
          </a:xfrm>
          <a:prstGeom prst="ellipse">
            <a:avLst/>
          </a:prstGeom>
          <a:solidFill>
            <a:schemeClr val="accent4"/>
          </a:solidFill>
          <a:ln w="12700">
            <a:solidFill>
              <a:schemeClr val="accent4"/>
            </a:solidFill>
            <a:prstDash val="solid"/>
          </a:ln>
        </p:spPr>
      </p:sp>
      <p:pic>
        <p:nvPicPr>
          <p:cNvPr id="9" name="Image 2" descr="FaChartLine">    </p:cNvPr>
          <p:cNvPicPr>
            <a:picLocks noChangeAspect="1"/>
          </p:cNvPicPr>
          <p:nvPr/>
        </p:nvPicPr>
        <p:blipFill>
          <a:blip r:embed="rId3"/>
          <a:stretch>
            <a:fillRect/>
          </a:stretch>
        </p:blipFill>
        <p:spPr>
          <a:xfrm>
            <a:off x="2446020" y="3726180"/>
            <a:ext cx="320040" cy="320040"/>
          </a:xfrm>
          <a:prstGeom prst="rect">
            <a:avLst/>
          </a:prstGeom>
        </p:spPr>
      </p:pic>
      <p:sp>
        <p:nvSpPr>
          <p:cNvPr id="10" name="Text 5"/>
          <p:cNvSpPr txBox="1"/>
          <p:nvPr/>
        </p:nvSpPr>
        <p:spPr>
          <a:xfrm>
            <a:off x="3200400" y="3566160"/>
            <a:ext cx="4572000" cy="640080"/>
          </a:xfrm>
          <a:prstGeom prst="rect">
            <a:avLst/>
          </a:prstGeom>
          <a:noFill/>
          <a:ln/>
        </p:spPr>
        <p:txBody>
          <a:bodyPr wrap="square" lIns="0" tIns="0" rIns="0" bIns="0" rtlCol="0" anchor="ctr"/>
          <a:lstStyle/>
          <a:p>
            <a:pPr indent="0" marL="0">
              <a:buNone/>
            </a:pPr>
            <a:r>
              <a:rPr lang="en-US" sz="1400" dirty="0">
                <a:solidFill>
                  <a:schemeClr val="accent6"/>
                </a:solidFill>
              </a:rPr>
              <a:t>CloudWatch  ·  Prometheus  ·  Grafana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Project Objective</a:t>
            </a:r>
            <a:endParaRPr lang="en-US" sz="3400" dirty="0"/>
          </a:p>
        </p:txBody>
      </p:sp>
      <p:sp>
        <p:nvSpPr>
          <p:cNvPr id="3" name="Card"/>
          <p:cNvSpPr/>
          <p:nvPr/>
        </p:nvSpPr>
        <p:spPr>
          <a:xfrm>
            <a:off x="457200" y="1280160"/>
            <a:ext cx="3931920" cy="3291840"/>
          </a:xfrm>
          <a:prstGeom prst="roundRect">
            <a:avLst>
              <a:gd name="adj" fmla="val 2778"/>
            </a:avLst>
          </a:prstGeom>
          <a:solidFill>
            <a:schemeClr val="tx1"/>
          </a:solidFill>
          <a:ln w="12700">
            <a:solidFill>
              <a:schemeClr val="tx1"/>
            </a:solidFill>
            <a:prstDash val="solid"/>
          </a:ln>
          <a:effectLst>
            <a:outerShdw sx="100000" sy="100000" kx="0" ky="0" algn="bl" rotWithShape="0" blurRad="76200" dist="25400" dir="5400000">
              <a:srgbClr val="000000">
                <a:alpha val="10000"/>
              </a:srgbClr>
            </a:outerShdw>
          </a:effectLst>
        </p:spPr>
      </p:sp>
      <p:sp>
        <p:nvSpPr>
          <p:cNvPr id="4" name="Text 2"/>
          <p:cNvSpPr txBox="1"/>
          <p:nvPr/>
        </p:nvSpPr>
        <p:spPr>
          <a:xfrm>
            <a:off x="731520" y="1554480"/>
            <a:ext cx="3383280" cy="155448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Monitor an AWS EC2 instance and visualize its performance metrics.</a:t>
            </a:r>
            <a:endParaRPr lang="en-US" sz="2400" dirty="0"/>
          </a:p>
        </p:txBody>
      </p:sp>
      <p:sp>
        <p:nvSpPr>
          <p:cNvPr id="5" name="Text 3"/>
          <p:cNvSpPr txBox="1"/>
          <p:nvPr/>
        </p:nvSpPr>
        <p:spPr>
          <a:xfrm>
            <a:off x="731520" y="3291840"/>
            <a:ext cx="3383280" cy="1005840"/>
          </a:xfrm>
          <a:prstGeom prst="rect">
            <a:avLst/>
          </a:prstGeom>
          <a:noFill/>
          <a:ln/>
        </p:spPr>
        <p:txBody>
          <a:bodyPr wrap="square" lIns="0" tIns="0" rIns="0" bIns="0" rtlCol="0" anchor="t"/>
          <a:lstStyle/>
          <a:p>
            <a:pPr indent="0" marL="0">
              <a:buNone/>
            </a:pPr>
            <a:r>
              <a:rPr lang="en-US" sz="1400" dirty="0">
                <a:solidFill>
                  <a:schemeClr val="accent6"/>
                </a:solidFill>
              </a:rPr>
              <a:t>CloudWatch for EC2 metrics, Prometheus + Node Exporter for Linux metrics, Grafana for dashboards.</a:t>
            </a:r>
            <a:endParaRPr lang="en-US" sz="1400" dirty="0"/>
          </a:p>
        </p:txBody>
      </p:sp>
      <p:sp>
        <p:nvSpPr>
          <p:cNvPr id="6" name="Icon circle"/>
          <p:cNvSpPr/>
          <p:nvPr/>
        </p:nvSpPr>
        <p:spPr>
          <a:xfrm>
            <a:off x="4754880" y="1325880"/>
            <a:ext cx="402336" cy="402336"/>
          </a:xfrm>
          <a:prstGeom prst="ellipse">
            <a:avLst/>
          </a:prstGeom>
          <a:solidFill>
            <a:schemeClr val="accent1"/>
          </a:solidFill>
          <a:ln w="12700">
            <a:solidFill>
              <a:schemeClr val="accent1"/>
            </a:solidFill>
            <a:prstDash val="solid"/>
          </a:ln>
        </p:spPr>
      </p:sp>
      <p:pic>
        <p:nvPicPr>
          <p:cNvPr id="7" name="Image 0" descr="FaServer">    </p:cNvPr>
          <p:cNvPicPr>
            <a:picLocks noChangeAspect="1"/>
          </p:cNvPicPr>
          <p:nvPr/>
        </p:nvPicPr>
        <p:blipFill>
          <a:blip r:embed="rId1"/>
          <a:stretch>
            <a:fillRect/>
          </a:stretch>
        </p:blipFill>
        <p:spPr>
          <a:xfrm>
            <a:off x="4855464" y="1426464"/>
            <a:ext cx="201168" cy="201168"/>
          </a:xfrm>
          <a:prstGeom prst="rect">
            <a:avLst/>
          </a:prstGeom>
        </p:spPr>
      </p:pic>
      <p:sp>
        <p:nvSpPr>
          <p:cNvPr id="8" name="Text 5"/>
          <p:cNvSpPr txBox="1"/>
          <p:nvPr/>
        </p:nvSpPr>
        <p:spPr>
          <a:xfrm>
            <a:off x="5349240" y="1280160"/>
            <a:ext cx="3337560" cy="493776"/>
          </a:xfrm>
          <a:prstGeom prst="rect">
            <a:avLst/>
          </a:prstGeom>
          <a:noFill/>
          <a:ln/>
        </p:spPr>
        <p:txBody>
          <a:bodyPr wrap="square" lIns="0" tIns="0" rIns="0" bIns="0" rtlCol="0" anchor="ctr"/>
          <a:lstStyle/>
          <a:p>
            <a:pPr indent="0" marL="0">
              <a:buNone/>
            </a:pPr>
            <a:r>
              <a:rPr lang="en-US" sz="1400" dirty="0">
                <a:solidFill>
                  <a:schemeClr val="tx1"/>
                </a:solidFill>
              </a:rPr>
              <a:t>Monitor EC2 instance performance</a:t>
            </a:r>
            <a:endParaRPr lang="en-US" sz="1400" dirty="0"/>
          </a:p>
        </p:txBody>
      </p:sp>
      <p:sp>
        <p:nvSpPr>
          <p:cNvPr id="9" name="Icon circle"/>
          <p:cNvSpPr/>
          <p:nvPr/>
        </p:nvSpPr>
        <p:spPr>
          <a:xfrm>
            <a:off x="4754880" y="1874520"/>
            <a:ext cx="402336" cy="402336"/>
          </a:xfrm>
          <a:prstGeom prst="ellipse">
            <a:avLst/>
          </a:prstGeom>
          <a:solidFill>
            <a:schemeClr val="accent3"/>
          </a:solidFill>
          <a:ln w="12700">
            <a:solidFill>
              <a:schemeClr val="accent3"/>
            </a:solidFill>
            <a:prstDash val="solid"/>
          </a:ln>
        </p:spPr>
      </p:sp>
      <p:pic>
        <p:nvPicPr>
          <p:cNvPr id="10" name="Image 1" descr="FaCloud">    </p:cNvPr>
          <p:cNvPicPr>
            <a:picLocks noChangeAspect="1"/>
          </p:cNvPicPr>
          <p:nvPr/>
        </p:nvPicPr>
        <p:blipFill>
          <a:blip r:embed="rId2"/>
          <a:stretch>
            <a:fillRect/>
          </a:stretch>
        </p:blipFill>
        <p:spPr>
          <a:xfrm>
            <a:off x="4855464" y="1975104"/>
            <a:ext cx="201168" cy="201168"/>
          </a:xfrm>
          <a:prstGeom prst="rect">
            <a:avLst/>
          </a:prstGeom>
        </p:spPr>
      </p:pic>
      <p:sp>
        <p:nvSpPr>
          <p:cNvPr id="11" name="Text 7"/>
          <p:cNvSpPr txBox="1"/>
          <p:nvPr/>
        </p:nvSpPr>
        <p:spPr>
          <a:xfrm>
            <a:off x="5349240" y="1828800"/>
            <a:ext cx="3337560" cy="493776"/>
          </a:xfrm>
          <a:prstGeom prst="rect">
            <a:avLst/>
          </a:prstGeom>
          <a:noFill/>
          <a:ln/>
        </p:spPr>
        <p:txBody>
          <a:bodyPr wrap="square" lIns="0" tIns="0" rIns="0" bIns="0" rtlCol="0" anchor="ctr"/>
          <a:lstStyle/>
          <a:p>
            <a:pPr indent="0" marL="0">
              <a:buNone/>
            </a:pPr>
            <a:r>
              <a:rPr lang="en-US" sz="1400" dirty="0">
                <a:solidFill>
                  <a:schemeClr val="tx1"/>
                </a:solidFill>
              </a:rPr>
              <a:t>View CPU utilization in CloudWatch</a:t>
            </a:r>
            <a:endParaRPr lang="en-US" sz="1400" dirty="0"/>
          </a:p>
        </p:txBody>
      </p:sp>
      <p:sp>
        <p:nvSpPr>
          <p:cNvPr id="12" name="Icon circle"/>
          <p:cNvSpPr/>
          <p:nvPr/>
        </p:nvSpPr>
        <p:spPr>
          <a:xfrm>
            <a:off x="4754880" y="2423160"/>
            <a:ext cx="402336" cy="402336"/>
          </a:xfrm>
          <a:prstGeom prst="ellipse">
            <a:avLst/>
          </a:prstGeom>
          <a:solidFill>
            <a:schemeClr val="accent2"/>
          </a:solidFill>
          <a:ln w="12700">
            <a:solidFill>
              <a:schemeClr val="accent2"/>
            </a:solidFill>
            <a:prstDash val="solid"/>
          </a:ln>
        </p:spPr>
      </p:sp>
      <p:pic>
        <p:nvPicPr>
          <p:cNvPr id="13" name="Image 2" descr="FaMicrochip">    </p:cNvPr>
          <p:cNvPicPr>
            <a:picLocks noChangeAspect="1"/>
          </p:cNvPicPr>
          <p:nvPr/>
        </p:nvPicPr>
        <p:blipFill>
          <a:blip r:embed="rId3"/>
          <a:stretch>
            <a:fillRect/>
          </a:stretch>
        </p:blipFill>
        <p:spPr>
          <a:xfrm>
            <a:off x="4855464" y="2523744"/>
            <a:ext cx="201168" cy="201168"/>
          </a:xfrm>
          <a:prstGeom prst="rect">
            <a:avLst/>
          </a:prstGeom>
        </p:spPr>
      </p:pic>
      <p:sp>
        <p:nvSpPr>
          <p:cNvPr id="14" name="Text 9"/>
          <p:cNvSpPr txBox="1"/>
          <p:nvPr/>
        </p:nvSpPr>
        <p:spPr>
          <a:xfrm>
            <a:off x="5349240" y="2377440"/>
            <a:ext cx="3337560" cy="493776"/>
          </a:xfrm>
          <a:prstGeom prst="rect">
            <a:avLst/>
          </a:prstGeom>
          <a:noFill/>
          <a:ln/>
        </p:spPr>
        <p:txBody>
          <a:bodyPr wrap="square" lIns="0" tIns="0" rIns="0" bIns="0" rtlCol="0" anchor="ctr"/>
          <a:lstStyle/>
          <a:p>
            <a:pPr indent="0" marL="0">
              <a:buNone/>
            </a:pPr>
            <a:r>
              <a:rPr lang="en-US" sz="1400" dirty="0">
                <a:solidFill>
                  <a:schemeClr val="tx1"/>
                </a:solidFill>
              </a:rPr>
              <a:t>Collect Linux metrics with Node Exporter</a:t>
            </a:r>
            <a:endParaRPr lang="en-US" sz="1400" dirty="0"/>
          </a:p>
        </p:txBody>
      </p:sp>
      <p:sp>
        <p:nvSpPr>
          <p:cNvPr id="15" name="Icon circle"/>
          <p:cNvSpPr/>
          <p:nvPr/>
        </p:nvSpPr>
        <p:spPr>
          <a:xfrm>
            <a:off x="4754880" y="2971800"/>
            <a:ext cx="402336" cy="402336"/>
          </a:xfrm>
          <a:prstGeom prst="ellipse">
            <a:avLst/>
          </a:prstGeom>
          <a:solidFill>
            <a:schemeClr val="accent4"/>
          </a:solidFill>
          <a:ln w="12700">
            <a:solidFill>
              <a:schemeClr val="accent4"/>
            </a:solidFill>
            <a:prstDash val="solid"/>
          </a:ln>
        </p:spPr>
      </p:sp>
      <p:pic>
        <p:nvPicPr>
          <p:cNvPr id="16" name="Image 3" descr="FaChartLine">    </p:cNvPr>
          <p:cNvPicPr>
            <a:picLocks noChangeAspect="1"/>
          </p:cNvPicPr>
          <p:nvPr/>
        </p:nvPicPr>
        <p:blipFill>
          <a:blip r:embed="rId4"/>
          <a:stretch>
            <a:fillRect/>
          </a:stretch>
        </p:blipFill>
        <p:spPr>
          <a:xfrm>
            <a:off x="4855464" y="3072384"/>
            <a:ext cx="201168" cy="201168"/>
          </a:xfrm>
          <a:prstGeom prst="rect">
            <a:avLst/>
          </a:prstGeom>
        </p:spPr>
      </p:pic>
      <p:sp>
        <p:nvSpPr>
          <p:cNvPr id="17" name="Text 11"/>
          <p:cNvSpPr txBox="1"/>
          <p:nvPr/>
        </p:nvSpPr>
        <p:spPr>
          <a:xfrm>
            <a:off x="5349240" y="2926080"/>
            <a:ext cx="3337560" cy="493776"/>
          </a:xfrm>
          <a:prstGeom prst="rect">
            <a:avLst/>
          </a:prstGeom>
          <a:noFill/>
          <a:ln/>
        </p:spPr>
        <p:txBody>
          <a:bodyPr wrap="square" lIns="0" tIns="0" rIns="0" bIns="0" rtlCol="0" anchor="ctr"/>
          <a:lstStyle/>
          <a:p>
            <a:pPr indent="0" marL="0">
              <a:buNone/>
            </a:pPr>
            <a:r>
              <a:rPr lang="en-US" sz="1400" dirty="0">
                <a:solidFill>
                  <a:schemeClr val="tx1"/>
                </a:solidFill>
              </a:rPr>
              <a:t>Build a custom Grafana dashboard</a:t>
            </a:r>
            <a:endParaRPr lang="en-US" sz="1400" dirty="0"/>
          </a:p>
        </p:txBody>
      </p:sp>
      <p:sp>
        <p:nvSpPr>
          <p:cNvPr id="18" name="Icon circle"/>
          <p:cNvSpPr/>
          <p:nvPr/>
        </p:nvSpPr>
        <p:spPr>
          <a:xfrm>
            <a:off x="4754880" y="3520440"/>
            <a:ext cx="402336" cy="402336"/>
          </a:xfrm>
          <a:prstGeom prst="ellipse">
            <a:avLst/>
          </a:prstGeom>
          <a:solidFill>
            <a:schemeClr val="accent1"/>
          </a:solidFill>
          <a:ln w="12700">
            <a:solidFill>
              <a:schemeClr val="accent1"/>
            </a:solidFill>
            <a:prstDash val="solid"/>
          </a:ln>
        </p:spPr>
      </p:sp>
      <p:pic>
        <p:nvPicPr>
          <p:cNvPr id="19" name="Image 4" descr="FaMemory">    </p:cNvPr>
          <p:cNvPicPr>
            <a:picLocks noChangeAspect="1"/>
          </p:cNvPicPr>
          <p:nvPr/>
        </p:nvPicPr>
        <p:blipFill>
          <a:blip r:embed="rId5"/>
          <a:stretch>
            <a:fillRect/>
          </a:stretch>
        </p:blipFill>
        <p:spPr>
          <a:xfrm>
            <a:off x="4855464" y="3621024"/>
            <a:ext cx="201168" cy="201168"/>
          </a:xfrm>
          <a:prstGeom prst="rect">
            <a:avLst/>
          </a:prstGeom>
        </p:spPr>
      </p:pic>
      <p:sp>
        <p:nvSpPr>
          <p:cNvPr id="20" name="Text 13"/>
          <p:cNvSpPr txBox="1"/>
          <p:nvPr/>
        </p:nvSpPr>
        <p:spPr>
          <a:xfrm>
            <a:off x="5349240" y="3474720"/>
            <a:ext cx="3337560" cy="493776"/>
          </a:xfrm>
          <a:prstGeom prst="rect">
            <a:avLst/>
          </a:prstGeom>
          <a:noFill/>
          <a:ln/>
        </p:spPr>
        <p:txBody>
          <a:bodyPr wrap="square" lIns="0" tIns="0" rIns="0" bIns="0" rtlCol="0" anchor="ctr"/>
          <a:lstStyle/>
          <a:p>
            <a:pPr indent="0" marL="0">
              <a:buNone/>
            </a:pPr>
            <a:r>
              <a:rPr lang="en-US" sz="1400" dirty="0">
                <a:solidFill>
                  <a:schemeClr val="tx1"/>
                </a:solidFill>
              </a:rPr>
              <a:t>Visualize CPU and memory usage</a:t>
            </a:r>
            <a:endParaRPr lang="en-US" sz="1400" dirty="0"/>
          </a:p>
        </p:txBody>
      </p:sp>
      <p:sp>
        <p:nvSpPr>
          <p:cNvPr id="21" name="Icon circle"/>
          <p:cNvSpPr/>
          <p:nvPr/>
        </p:nvSpPr>
        <p:spPr>
          <a:xfrm>
            <a:off x="4754880" y="4069080"/>
            <a:ext cx="402336" cy="402336"/>
          </a:xfrm>
          <a:prstGeom prst="ellipse">
            <a:avLst/>
          </a:prstGeom>
          <a:solidFill>
            <a:schemeClr val="accent2"/>
          </a:solidFill>
          <a:ln w="12700">
            <a:solidFill>
              <a:schemeClr val="accent2"/>
            </a:solidFill>
            <a:prstDash val="solid"/>
          </a:ln>
        </p:spPr>
      </p:sp>
      <p:pic>
        <p:nvPicPr>
          <p:cNvPr id="22" name="Image 5" descr="FaCogs">    </p:cNvPr>
          <p:cNvPicPr>
            <a:picLocks noChangeAspect="1"/>
          </p:cNvPicPr>
          <p:nvPr/>
        </p:nvPicPr>
        <p:blipFill>
          <a:blip r:embed="rId6"/>
          <a:stretch>
            <a:fillRect/>
          </a:stretch>
        </p:blipFill>
        <p:spPr>
          <a:xfrm>
            <a:off x="4855464" y="4169664"/>
            <a:ext cx="201168" cy="201168"/>
          </a:xfrm>
          <a:prstGeom prst="rect">
            <a:avLst/>
          </a:prstGeom>
        </p:spPr>
      </p:pic>
      <p:sp>
        <p:nvSpPr>
          <p:cNvPr id="23" name="Text 15"/>
          <p:cNvSpPr txBox="1"/>
          <p:nvPr/>
        </p:nvSpPr>
        <p:spPr>
          <a:xfrm>
            <a:off x="5349240" y="4023360"/>
            <a:ext cx="3337560" cy="493776"/>
          </a:xfrm>
          <a:prstGeom prst="rect">
            <a:avLst/>
          </a:prstGeom>
          <a:noFill/>
          <a:ln/>
        </p:spPr>
        <p:txBody>
          <a:bodyPr wrap="square" lIns="0" tIns="0" rIns="0" bIns="0" rtlCol="0" anchor="ctr"/>
          <a:lstStyle/>
          <a:p>
            <a:pPr indent="0" marL="0">
              <a:buNone/>
            </a:pPr>
            <a:r>
              <a:rPr lang="en-US" sz="1400" dirty="0">
                <a:solidFill>
                  <a:schemeClr val="tx1"/>
                </a:solidFill>
              </a:rPr>
              <a:t>See how tools work together in DevOps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Why Monitoring Matters</a:t>
            </a:r>
            <a:endParaRPr lang="en-US" sz="3400" dirty="0"/>
          </a:p>
        </p:txBody>
      </p:sp>
      <p:sp>
        <p:nvSpPr>
          <p:cNvPr id="3" name="Card"/>
          <p:cNvSpPr/>
          <p:nvPr/>
        </p:nvSpPr>
        <p:spPr>
          <a:xfrm>
            <a:off x="457200" y="1280160"/>
            <a:ext cx="3657600" cy="3291840"/>
          </a:xfrm>
          <a:prstGeom prst="roundRect">
            <a:avLst>
              <a:gd name="adj" fmla="val 2778"/>
            </a:avLst>
          </a:prstGeom>
          <a:solidFill>
            <a:schemeClr val="tx1"/>
          </a:solidFill>
          <a:ln w="12700">
            <a:solidFill>
              <a:schemeClr val="tx1"/>
            </a:solidFill>
            <a:prstDash val="solid"/>
          </a:ln>
          <a:effectLst>
            <a:outerShdw sx="100000" sy="100000" kx="0" ky="0" algn="bl" rotWithShape="0" blurRad="76200" dist="25400" dir="5400000">
              <a:srgbClr val="000000">
                <a:alpha val="10000"/>
              </a:srgbClr>
            </a:outerShdw>
          </a:effectLst>
        </p:spPr>
      </p:sp>
      <p:sp>
        <p:nvSpPr>
          <p:cNvPr id="4" name="Text 2"/>
          <p:cNvSpPr txBox="1"/>
          <p:nvPr/>
        </p:nvSpPr>
        <p:spPr>
          <a:xfrm>
            <a:off x="731520" y="1508760"/>
            <a:ext cx="3108960" cy="365760"/>
          </a:xfrm>
          <a:prstGeom prst="rect">
            <a:avLst/>
          </a:prstGeom>
          <a:noFill/>
          <a:ln/>
        </p:spPr>
        <p:txBody>
          <a:bodyPr wrap="square" lIns="0" tIns="0" rIns="0" bIns="0" rtlCol="0" anchor="t"/>
          <a:lstStyle/>
          <a:p>
            <a:pPr indent="0" marL="0">
              <a:buNone/>
            </a:pPr>
            <a:r>
              <a:rPr lang="en-US" sz="1800" b="1" dirty="0">
                <a:solidFill>
                  <a:schemeClr val="accent3"/>
                </a:solidFill>
              </a:rPr>
              <a:t>Website running slow? Ask:</a:t>
            </a:r>
            <a:endParaRPr lang="en-US" sz="1800" dirty="0"/>
          </a:p>
        </p:txBody>
      </p:sp>
      <p:sp>
        <p:nvSpPr>
          <p:cNvPr id="5" name="Text 3"/>
          <p:cNvSpPr txBox="1"/>
          <p:nvPr/>
        </p:nvSpPr>
        <p:spPr>
          <a:xfrm>
            <a:off x="731520" y="2057400"/>
            <a:ext cx="3108960" cy="22860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bg1"/>
                </a:solidFill>
              </a:rPr>
              <a:t>Is CPU utilization too high?</a:t>
            </a:r>
            <a:endParaRPr lang="en-US" sz="1400" dirty="0"/>
          </a:p>
          <a:p>
            <a:pPr marL="342900" indent="-342900">
              <a:spcAft>
                <a:spcPts val="1000"/>
              </a:spcAft>
              <a:buSzPct val="100000"/>
              <a:buChar char="•"/>
            </a:pPr>
            <a:r>
              <a:rPr lang="en-US" sz="1400" dirty="0">
                <a:solidFill>
                  <a:schemeClr val="bg1"/>
                </a:solidFill>
              </a:rPr>
              <a:t>Is the server out of memory?</a:t>
            </a:r>
            <a:endParaRPr lang="en-US" sz="1400" dirty="0"/>
          </a:p>
          <a:p>
            <a:pPr marL="342900" indent="-342900">
              <a:spcAft>
                <a:spcPts val="1000"/>
              </a:spcAft>
              <a:buSzPct val="100000"/>
              <a:buChar char="•"/>
            </a:pPr>
            <a:r>
              <a:rPr lang="en-US" sz="1400" dirty="0">
                <a:solidFill>
                  <a:schemeClr val="bg1"/>
                </a:solidFill>
              </a:rPr>
              <a:t>Is the server accessible?</a:t>
            </a:r>
            <a:endParaRPr lang="en-US" sz="1400" dirty="0"/>
          </a:p>
          <a:p>
            <a:pPr marL="342900" indent="-342900">
              <a:spcAft>
                <a:spcPts val="1000"/>
              </a:spcAft>
              <a:buSzPct val="100000"/>
              <a:buChar char="•"/>
            </a:pPr>
            <a:r>
              <a:rPr lang="en-US" sz="1400" dirty="0">
                <a:solidFill>
                  <a:schemeClr val="bg1"/>
                </a:solidFill>
              </a:rPr>
              <a:t>Is a monitoring target down?</a:t>
            </a:r>
            <a:endParaRPr lang="en-US" sz="1400" dirty="0"/>
          </a:p>
          <a:p>
            <a:pPr marL="342900" indent="-342900">
              <a:spcAft>
                <a:spcPts val="1000"/>
              </a:spcAft>
              <a:buSzPct val="100000"/>
              <a:buChar char="•"/>
            </a:pPr>
            <a:r>
              <a:rPr lang="en-US" sz="1400" dirty="0">
                <a:solidFill>
                  <a:schemeClr val="bg1"/>
                </a:solidFill>
              </a:rPr>
              <a:t>Is the application responding?</a:t>
            </a:r>
            <a:endParaRPr lang="en-US" sz="1400" dirty="0"/>
          </a:p>
        </p:txBody>
      </p:sp>
      <p:sp>
        <p:nvSpPr>
          <p:cNvPr id="6" name="Icon circle"/>
          <p:cNvSpPr/>
          <p:nvPr/>
        </p:nvSpPr>
        <p:spPr>
          <a:xfrm>
            <a:off x="4480560" y="1344168"/>
            <a:ext cx="457200" cy="457200"/>
          </a:xfrm>
          <a:prstGeom prst="ellipse">
            <a:avLst/>
          </a:prstGeom>
          <a:solidFill>
            <a:schemeClr val="accent1"/>
          </a:solidFill>
          <a:ln w="12700">
            <a:solidFill>
              <a:schemeClr val="accent1"/>
            </a:solidFill>
            <a:prstDash val="solid"/>
          </a:ln>
        </p:spPr>
      </p:sp>
      <p:pic>
        <p:nvPicPr>
          <p:cNvPr id="7" name="Image 0" descr="FaTachometerAlt">    </p:cNvPr>
          <p:cNvPicPr>
            <a:picLocks noChangeAspect="1"/>
          </p:cNvPicPr>
          <p:nvPr/>
        </p:nvPicPr>
        <p:blipFill>
          <a:blip r:embed="rId1"/>
          <a:stretch>
            <a:fillRect/>
          </a:stretch>
        </p:blipFill>
        <p:spPr>
          <a:xfrm>
            <a:off x="4594860" y="1458468"/>
            <a:ext cx="228600" cy="228600"/>
          </a:xfrm>
          <a:prstGeom prst="rect">
            <a:avLst/>
          </a:prstGeom>
        </p:spPr>
      </p:pic>
      <p:sp>
        <p:nvSpPr>
          <p:cNvPr id="8" name="Text 5"/>
          <p:cNvSpPr txBox="1"/>
          <p:nvPr/>
        </p:nvSpPr>
        <p:spPr>
          <a:xfrm>
            <a:off x="5120640" y="1280160"/>
            <a:ext cx="3566160" cy="585216"/>
          </a:xfrm>
          <a:prstGeom prst="rect">
            <a:avLst/>
          </a:prstGeom>
          <a:noFill/>
          <a:ln/>
        </p:spPr>
        <p:txBody>
          <a:bodyPr wrap="square" lIns="0" tIns="0" rIns="0" bIns="0" rtlCol="0" anchor="ctr"/>
          <a:lstStyle/>
          <a:p>
            <a:pPr indent="0" marL="0">
              <a:buNone/>
            </a:pPr>
            <a:r>
              <a:rPr lang="en-US" sz="1500" b="1" dirty="0">
                <a:solidFill>
                  <a:schemeClr val="tx1"/>
                </a:solidFill>
              </a:rPr>
              <a:t>Performance</a:t>
            </a:r>
            <a:endParaRPr lang="en-US" sz="1400" dirty="0"/>
          </a:p>
          <a:p>
            <a:pPr indent="0" marL="0">
              <a:buNone/>
            </a:pPr>
            <a:r>
              <a:rPr lang="en-US" sz="1200" dirty="0">
                <a:solidFill>
                  <a:schemeClr val="accent5"/>
                </a:solidFill>
              </a:rPr>
              <a:t>CPU, memory and network utilization</a:t>
            </a:r>
            <a:endParaRPr lang="en-US" sz="1400" dirty="0"/>
          </a:p>
        </p:txBody>
      </p:sp>
      <p:sp>
        <p:nvSpPr>
          <p:cNvPr id="9" name="Icon circle"/>
          <p:cNvSpPr/>
          <p:nvPr/>
        </p:nvSpPr>
        <p:spPr>
          <a:xfrm>
            <a:off x="4480560" y="2002536"/>
            <a:ext cx="457200" cy="457200"/>
          </a:xfrm>
          <a:prstGeom prst="ellipse">
            <a:avLst/>
          </a:prstGeom>
          <a:solidFill>
            <a:schemeClr val="accent2"/>
          </a:solidFill>
          <a:ln w="12700">
            <a:solidFill>
              <a:schemeClr val="accent2"/>
            </a:solidFill>
            <a:prstDash val="solid"/>
          </a:ln>
        </p:spPr>
      </p:sp>
      <p:pic>
        <p:nvPicPr>
          <p:cNvPr id="10" name="Image 1" descr="FaHeartbeat">    </p:cNvPr>
          <p:cNvPicPr>
            <a:picLocks noChangeAspect="1"/>
          </p:cNvPicPr>
          <p:nvPr/>
        </p:nvPicPr>
        <p:blipFill>
          <a:blip r:embed="rId2"/>
          <a:stretch>
            <a:fillRect/>
          </a:stretch>
        </p:blipFill>
        <p:spPr>
          <a:xfrm>
            <a:off x="4594860" y="2116836"/>
            <a:ext cx="228600" cy="228600"/>
          </a:xfrm>
          <a:prstGeom prst="rect">
            <a:avLst/>
          </a:prstGeom>
        </p:spPr>
      </p:pic>
      <p:sp>
        <p:nvSpPr>
          <p:cNvPr id="11" name="Text 7"/>
          <p:cNvSpPr txBox="1"/>
          <p:nvPr/>
        </p:nvSpPr>
        <p:spPr>
          <a:xfrm>
            <a:off x="5120640" y="1938528"/>
            <a:ext cx="3566160" cy="585216"/>
          </a:xfrm>
          <a:prstGeom prst="rect">
            <a:avLst/>
          </a:prstGeom>
          <a:noFill/>
          <a:ln/>
        </p:spPr>
        <p:txBody>
          <a:bodyPr wrap="square" lIns="0" tIns="0" rIns="0" bIns="0" rtlCol="0" anchor="ctr"/>
          <a:lstStyle/>
          <a:p>
            <a:pPr indent="0" marL="0">
              <a:buNone/>
            </a:pPr>
            <a:r>
              <a:rPr lang="en-US" sz="1500" b="1" dirty="0">
                <a:solidFill>
                  <a:schemeClr val="tx1"/>
                </a:solidFill>
              </a:rPr>
              <a:t>Availability</a:t>
            </a:r>
            <a:endParaRPr lang="en-US" sz="1400" dirty="0"/>
          </a:p>
          <a:p>
            <a:pPr indent="0" marL="0">
              <a:buNone/>
            </a:pPr>
            <a:r>
              <a:rPr lang="en-US" sz="1200" dirty="0">
                <a:solidFill>
                  <a:schemeClr val="accent5"/>
                </a:solidFill>
              </a:rPr>
              <a:t>Is the target reachable?</a:t>
            </a:r>
            <a:endParaRPr lang="en-US" sz="1400" dirty="0"/>
          </a:p>
        </p:txBody>
      </p:sp>
      <p:sp>
        <p:nvSpPr>
          <p:cNvPr id="12" name="Icon circle"/>
          <p:cNvSpPr/>
          <p:nvPr/>
        </p:nvSpPr>
        <p:spPr>
          <a:xfrm>
            <a:off x="4480560" y="2660904"/>
            <a:ext cx="457200" cy="457200"/>
          </a:xfrm>
          <a:prstGeom prst="ellipse">
            <a:avLst/>
          </a:prstGeom>
          <a:solidFill>
            <a:schemeClr val="accent4"/>
          </a:solidFill>
          <a:ln w="12700">
            <a:solidFill>
              <a:schemeClr val="accent4"/>
            </a:solidFill>
            <a:prstDash val="solid"/>
          </a:ln>
        </p:spPr>
      </p:sp>
      <p:pic>
        <p:nvPicPr>
          <p:cNvPr id="13" name="Image 2" descr="FaSearch">    </p:cNvPr>
          <p:cNvPicPr>
            <a:picLocks noChangeAspect="1"/>
          </p:cNvPicPr>
          <p:nvPr/>
        </p:nvPicPr>
        <p:blipFill>
          <a:blip r:embed="rId3"/>
          <a:stretch>
            <a:fillRect/>
          </a:stretch>
        </p:blipFill>
        <p:spPr>
          <a:xfrm>
            <a:off x="4594860" y="2775204"/>
            <a:ext cx="228600" cy="228600"/>
          </a:xfrm>
          <a:prstGeom prst="rect">
            <a:avLst/>
          </a:prstGeom>
        </p:spPr>
      </p:pic>
      <p:sp>
        <p:nvSpPr>
          <p:cNvPr id="14" name="Text 9"/>
          <p:cNvSpPr txBox="1"/>
          <p:nvPr/>
        </p:nvSpPr>
        <p:spPr>
          <a:xfrm>
            <a:off x="5120640" y="2596896"/>
            <a:ext cx="3566160" cy="585216"/>
          </a:xfrm>
          <a:prstGeom prst="rect">
            <a:avLst/>
          </a:prstGeom>
          <a:noFill/>
          <a:ln/>
        </p:spPr>
        <p:txBody>
          <a:bodyPr wrap="square" lIns="0" tIns="0" rIns="0" bIns="0" rtlCol="0" anchor="ctr"/>
          <a:lstStyle/>
          <a:p>
            <a:pPr indent="0" marL="0">
              <a:buNone/>
            </a:pPr>
            <a:r>
              <a:rPr lang="en-US" sz="1500" b="1" dirty="0">
                <a:solidFill>
                  <a:schemeClr val="tx1"/>
                </a:solidFill>
              </a:rPr>
              <a:t>Troubleshooting</a:t>
            </a:r>
            <a:endParaRPr lang="en-US" sz="1400" dirty="0"/>
          </a:p>
          <a:p>
            <a:pPr indent="0" marL="0">
              <a:buNone/>
            </a:pPr>
            <a:r>
              <a:rPr lang="en-US" sz="1200" dirty="0">
                <a:solidFill>
                  <a:schemeClr val="accent5"/>
                </a:solidFill>
              </a:rPr>
              <a:t>Investigate performance problems</a:t>
            </a:r>
            <a:endParaRPr lang="en-US" sz="1400" dirty="0"/>
          </a:p>
        </p:txBody>
      </p:sp>
      <p:sp>
        <p:nvSpPr>
          <p:cNvPr id="15" name="Icon circle"/>
          <p:cNvSpPr/>
          <p:nvPr/>
        </p:nvSpPr>
        <p:spPr>
          <a:xfrm>
            <a:off x="4480560" y="3319272"/>
            <a:ext cx="457200" cy="457200"/>
          </a:xfrm>
          <a:prstGeom prst="ellipse">
            <a:avLst/>
          </a:prstGeom>
          <a:solidFill>
            <a:schemeClr val="accent1"/>
          </a:solidFill>
          <a:ln w="12700">
            <a:solidFill>
              <a:schemeClr val="accent1"/>
            </a:solidFill>
            <a:prstDash val="solid"/>
          </a:ln>
        </p:spPr>
      </p:sp>
      <p:pic>
        <p:nvPicPr>
          <p:cNvPr id="16" name="Image 3" descr="FaCogs">    </p:cNvPr>
          <p:cNvPicPr>
            <a:picLocks noChangeAspect="1"/>
          </p:cNvPicPr>
          <p:nvPr/>
        </p:nvPicPr>
        <p:blipFill>
          <a:blip r:embed="rId4"/>
          <a:stretch>
            <a:fillRect/>
          </a:stretch>
        </p:blipFill>
        <p:spPr>
          <a:xfrm>
            <a:off x="4594860" y="3433572"/>
            <a:ext cx="228600" cy="228600"/>
          </a:xfrm>
          <a:prstGeom prst="rect">
            <a:avLst/>
          </a:prstGeom>
        </p:spPr>
      </p:pic>
      <p:sp>
        <p:nvSpPr>
          <p:cNvPr id="17" name="Text 11"/>
          <p:cNvSpPr txBox="1"/>
          <p:nvPr/>
        </p:nvSpPr>
        <p:spPr>
          <a:xfrm>
            <a:off x="5120640" y="3255264"/>
            <a:ext cx="3566160" cy="585216"/>
          </a:xfrm>
          <a:prstGeom prst="rect">
            <a:avLst/>
          </a:prstGeom>
          <a:noFill/>
          <a:ln/>
        </p:spPr>
        <p:txBody>
          <a:bodyPr wrap="square" lIns="0" tIns="0" rIns="0" bIns="0" rtlCol="0" anchor="ctr"/>
          <a:lstStyle/>
          <a:p>
            <a:pPr indent="0" marL="0">
              <a:buNone/>
            </a:pPr>
            <a:r>
              <a:rPr lang="en-US" sz="1500" b="1" dirty="0">
                <a:solidFill>
                  <a:schemeClr val="tx1"/>
                </a:solidFill>
              </a:rPr>
              <a:t>Resource management</a:t>
            </a:r>
            <a:endParaRPr lang="en-US" sz="1400" dirty="0"/>
          </a:p>
          <a:p>
            <a:pPr indent="0" marL="0">
              <a:buNone/>
            </a:pPr>
            <a:r>
              <a:rPr lang="en-US" sz="1200" dirty="0">
                <a:solidFill>
                  <a:schemeClr val="accent5"/>
                </a:solidFill>
              </a:rPr>
              <a:t>How server resources are used</a:t>
            </a:r>
            <a:endParaRPr lang="en-US" sz="1400" dirty="0"/>
          </a:p>
        </p:txBody>
      </p:sp>
      <p:sp>
        <p:nvSpPr>
          <p:cNvPr id="18" name="Icon circle"/>
          <p:cNvSpPr/>
          <p:nvPr/>
        </p:nvSpPr>
        <p:spPr>
          <a:xfrm>
            <a:off x="4480560" y="3977640"/>
            <a:ext cx="457200" cy="457200"/>
          </a:xfrm>
          <a:prstGeom prst="ellipse">
            <a:avLst/>
          </a:prstGeom>
          <a:solidFill>
            <a:schemeClr val="accent2"/>
          </a:solidFill>
          <a:ln w="12700">
            <a:solidFill>
              <a:schemeClr val="accent2"/>
            </a:solidFill>
            <a:prstDash val="solid"/>
          </a:ln>
        </p:spPr>
      </p:sp>
      <p:pic>
        <p:nvPicPr>
          <p:cNvPr id="19" name="Image 4" descr="FaShieldAlt">    </p:cNvPr>
          <p:cNvPicPr>
            <a:picLocks noChangeAspect="1"/>
          </p:cNvPicPr>
          <p:nvPr/>
        </p:nvPicPr>
        <p:blipFill>
          <a:blip r:embed="rId5"/>
          <a:stretch>
            <a:fillRect/>
          </a:stretch>
        </p:blipFill>
        <p:spPr>
          <a:xfrm>
            <a:off x="4594860" y="4091940"/>
            <a:ext cx="228600" cy="228600"/>
          </a:xfrm>
          <a:prstGeom prst="rect">
            <a:avLst/>
          </a:prstGeom>
        </p:spPr>
      </p:pic>
      <p:sp>
        <p:nvSpPr>
          <p:cNvPr id="20" name="Text 13"/>
          <p:cNvSpPr txBox="1"/>
          <p:nvPr/>
        </p:nvSpPr>
        <p:spPr>
          <a:xfrm>
            <a:off x="5120640" y="3913632"/>
            <a:ext cx="3566160" cy="585216"/>
          </a:xfrm>
          <a:prstGeom prst="rect">
            <a:avLst/>
          </a:prstGeom>
          <a:noFill/>
          <a:ln/>
        </p:spPr>
        <p:txBody>
          <a:bodyPr wrap="square" lIns="0" tIns="0" rIns="0" bIns="0" rtlCol="0" anchor="ctr"/>
          <a:lstStyle/>
          <a:p>
            <a:pPr indent="0" marL="0">
              <a:buNone/>
            </a:pPr>
            <a:r>
              <a:rPr lang="en-US" sz="1500" b="1" dirty="0">
                <a:solidFill>
                  <a:schemeClr val="tx1"/>
                </a:solidFill>
              </a:rPr>
              <a:t>Reliability</a:t>
            </a:r>
            <a:endParaRPr lang="en-US" sz="1400" dirty="0"/>
          </a:p>
          <a:p>
            <a:pPr indent="0" marL="0">
              <a:buNone/>
            </a:pPr>
            <a:r>
              <a:rPr lang="en-US" sz="1200" dirty="0">
                <a:solidFill>
                  <a:schemeClr val="accent5"/>
                </a:solidFill>
              </a:rPr>
              <a:t>Spot issues before they grow</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Technology Stack</a:t>
            </a:r>
            <a:endParaRPr lang="en-US" sz="3400" dirty="0"/>
          </a:p>
        </p:txBody>
      </p:sp>
      <p:sp>
        <p:nvSpPr>
          <p:cNvPr id="3" name="Card"/>
          <p:cNvSpPr/>
          <p:nvPr/>
        </p:nvSpPr>
        <p:spPr>
          <a:xfrm>
            <a:off x="457200" y="1280160"/>
            <a:ext cx="1920240" cy="1508760"/>
          </a:xfrm>
          <a:prstGeom prst="roundRect">
            <a:avLst>
              <a:gd name="adj" fmla="val 6061"/>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4" name="Icon circle"/>
          <p:cNvSpPr/>
          <p:nvPr/>
        </p:nvSpPr>
        <p:spPr>
          <a:xfrm>
            <a:off x="640080" y="1463040"/>
            <a:ext cx="502920" cy="502920"/>
          </a:xfrm>
          <a:prstGeom prst="ellipse">
            <a:avLst/>
          </a:prstGeom>
          <a:solidFill>
            <a:schemeClr val="accent3"/>
          </a:solidFill>
          <a:ln w="12700">
            <a:solidFill>
              <a:schemeClr val="accent3"/>
            </a:solidFill>
            <a:prstDash val="solid"/>
          </a:ln>
        </p:spPr>
      </p:sp>
      <p:pic>
        <p:nvPicPr>
          <p:cNvPr id="5" name="Image 0" descr="FaServer">    </p:cNvPr>
          <p:cNvPicPr>
            <a:picLocks noChangeAspect="1"/>
          </p:cNvPicPr>
          <p:nvPr/>
        </p:nvPicPr>
        <p:blipFill>
          <a:blip r:embed="rId1"/>
          <a:stretch>
            <a:fillRect/>
          </a:stretch>
        </p:blipFill>
        <p:spPr>
          <a:xfrm>
            <a:off x="765810" y="1588770"/>
            <a:ext cx="251460" cy="251460"/>
          </a:xfrm>
          <a:prstGeom prst="rect">
            <a:avLst/>
          </a:prstGeom>
        </p:spPr>
      </p:pic>
      <p:sp>
        <p:nvSpPr>
          <p:cNvPr id="6" name="Text 3"/>
          <p:cNvSpPr txBox="1"/>
          <p:nvPr/>
        </p:nvSpPr>
        <p:spPr>
          <a:xfrm>
            <a:off x="640080" y="2057400"/>
            <a:ext cx="1600200" cy="274320"/>
          </a:xfrm>
          <a:prstGeom prst="rect">
            <a:avLst/>
          </a:prstGeom>
          <a:noFill/>
          <a:ln/>
        </p:spPr>
        <p:txBody>
          <a:bodyPr wrap="square" lIns="0" tIns="0" rIns="0" bIns="0" rtlCol="0" anchor="t"/>
          <a:lstStyle/>
          <a:p>
            <a:pPr indent="0" marL="0">
              <a:buNone/>
            </a:pPr>
            <a:r>
              <a:rPr lang="en-US" sz="1600" b="1" dirty="0">
                <a:solidFill>
                  <a:schemeClr val="tx1"/>
                </a:solidFill>
              </a:rPr>
              <a:t>AWS EC2</a:t>
            </a:r>
            <a:endParaRPr lang="en-US" sz="1600" dirty="0"/>
          </a:p>
        </p:txBody>
      </p:sp>
      <p:sp>
        <p:nvSpPr>
          <p:cNvPr id="7" name="Text 4"/>
          <p:cNvSpPr txBox="1"/>
          <p:nvPr/>
        </p:nvSpPr>
        <p:spPr>
          <a:xfrm>
            <a:off x="640080" y="2350008"/>
            <a:ext cx="1600200" cy="365760"/>
          </a:xfrm>
          <a:prstGeom prst="rect">
            <a:avLst/>
          </a:prstGeom>
          <a:noFill/>
          <a:ln/>
        </p:spPr>
        <p:txBody>
          <a:bodyPr wrap="square" lIns="0" tIns="0" rIns="0" bIns="0" rtlCol="0" anchor="t"/>
          <a:lstStyle/>
          <a:p>
            <a:pPr indent="0" marL="0">
              <a:buNone/>
            </a:pPr>
            <a:r>
              <a:rPr lang="en-US" sz="1200" dirty="0">
                <a:solidFill>
                  <a:schemeClr val="accent5"/>
                </a:solidFill>
              </a:rPr>
              <a:t>Provides the virtual server</a:t>
            </a:r>
            <a:endParaRPr lang="en-US" sz="1200" dirty="0"/>
          </a:p>
        </p:txBody>
      </p:sp>
      <p:sp>
        <p:nvSpPr>
          <p:cNvPr id="8" name="Card"/>
          <p:cNvSpPr/>
          <p:nvPr/>
        </p:nvSpPr>
        <p:spPr>
          <a:xfrm>
            <a:off x="2560320" y="1280160"/>
            <a:ext cx="1920240" cy="1508760"/>
          </a:xfrm>
          <a:prstGeom prst="roundRect">
            <a:avLst>
              <a:gd name="adj" fmla="val 6061"/>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9" name="Icon circle"/>
          <p:cNvSpPr/>
          <p:nvPr/>
        </p:nvSpPr>
        <p:spPr>
          <a:xfrm>
            <a:off x="2743200" y="1463040"/>
            <a:ext cx="502920" cy="502920"/>
          </a:xfrm>
          <a:prstGeom prst="ellipse">
            <a:avLst/>
          </a:prstGeom>
          <a:solidFill>
            <a:schemeClr val="accent5"/>
          </a:solidFill>
          <a:ln w="12700">
            <a:solidFill>
              <a:schemeClr val="accent5"/>
            </a:solidFill>
            <a:prstDash val="solid"/>
          </a:ln>
        </p:spPr>
      </p:sp>
      <p:pic>
        <p:nvPicPr>
          <p:cNvPr id="10" name="Image 1" descr="FaLinux">    </p:cNvPr>
          <p:cNvPicPr>
            <a:picLocks noChangeAspect="1"/>
          </p:cNvPicPr>
          <p:nvPr/>
        </p:nvPicPr>
        <p:blipFill>
          <a:blip r:embed="rId2"/>
          <a:stretch>
            <a:fillRect/>
          </a:stretch>
        </p:blipFill>
        <p:spPr>
          <a:xfrm>
            <a:off x="2868930" y="1588770"/>
            <a:ext cx="251460" cy="251460"/>
          </a:xfrm>
          <a:prstGeom prst="rect">
            <a:avLst/>
          </a:prstGeom>
        </p:spPr>
      </p:pic>
      <p:sp>
        <p:nvSpPr>
          <p:cNvPr id="11" name="Text 7"/>
          <p:cNvSpPr txBox="1"/>
          <p:nvPr/>
        </p:nvSpPr>
        <p:spPr>
          <a:xfrm>
            <a:off x="2743200" y="2057400"/>
            <a:ext cx="1600200" cy="274320"/>
          </a:xfrm>
          <a:prstGeom prst="rect">
            <a:avLst/>
          </a:prstGeom>
          <a:noFill/>
          <a:ln/>
        </p:spPr>
        <p:txBody>
          <a:bodyPr wrap="square" lIns="0" tIns="0" rIns="0" bIns="0" rtlCol="0" anchor="t"/>
          <a:lstStyle/>
          <a:p>
            <a:pPr indent="0" marL="0">
              <a:buNone/>
            </a:pPr>
            <a:r>
              <a:rPr lang="en-US" sz="1600" b="1" dirty="0">
                <a:solidFill>
                  <a:schemeClr val="tx1"/>
                </a:solidFill>
              </a:rPr>
              <a:t>Ubuntu Linux</a:t>
            </a:r>
            <a:endParaRPr lang="en-US" sz="1600" dirty="0"/>
          </a:p>
        </p:txBody>
      </p:sp>
      <p:sp>
        <p:nvSpPr>
          <p:cNvPr id="12" name="Text 8"/>
          <p:cNvSpPr txBox="1"/>
          <p:nvPr/>
        </p:nvSpPr>
        <p:spPr>
          <a:xfrm>
            <a:off x="2743200" y="2350008"/>
            <a:ext cx="1600200" cy="365760"/>
          </a:xfrm>
          <a:prstGeom prst="rect">
            <a:avLst/>
          </a:prstGeom>
          <a:noFill/>
          <a:ln/>
        </p:spPr>
        <p:txBody>
          <a:bodyPr wrap="square" lIns="0" tIns="0" rIns="0" bIns="0" rtlCol="0" anchor="t"/>
          <a:lstStyle/>
          <a:p>
            <a:pPr indent="0" marL="0">
              <a:buNone/>
            </a:pPr>
            <a:r>
              <a:rPr lang="en-US" sz="1200" dirty="0">
                <a:solidFill>
                  <a:schemeClr val="accent5"/>
                </a:solidFill>
              </a:rPr>
              <a:t>Server operating system</a:t>
            </a:r>
            <a:endParaRPr lang="en-US" sz="1200" dirty="0"/>
          </a:p>
        </p:txBody>
      </p:sp>
      <p:sp>
        <p:nvSpPr>
          <p:cNvPr id="13" name="Card"/>
          <p:cNvSpPr/>
          <p:nvPr/>
        </p:nvSpPr>
        <p:spPr>
          <a:xfrm>
            <a:off x="4663440" y="1280160"/>
            <a:ext cx="1920240" cy="1508760"/>
          </a:xfrm>
          <a:prstGeom prst="roundRect">
            <a:avLst>
              <a:gd name="adj" fmla="val 6061"/>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4" name="Icon circle"/>
          <p:cNvSpPr/>
          <p:nvPr/>
        </p:nvSpPr>
        <p:spPr>
          <a:xfrm>
            <a:off x="4846320" y="1463040"/>
            <a:ext cx="502920" cy="502920"/>
          </a:xfrm>
          <a:prstGeom prst="ellipse">
            <a:avLst/>
          </a:prstGeom>
          <a:solidFill>
            <a:schemeClr val="accent3"/>
          </a:solidFill>
          <a:ln w="12700">
            <a:solidFill>
              <a:schemeClr val="accent3"/>
            </a:solidFill>
            <a:prstDash val="solid"/>
          </a:ln>
        </p:spPr>
      </p:sp>
      <p:pic>
        <p:nvPicPr>
          <p:cNvPr id="15" name="Image 2" descr="FaCloud">    </p:cNvPr>
          <p:cNvPicPr>
            <a:picLocks noChangeAspect="1"/>
          </p:cNvPicPr>
          <p:nvPr/>
        </p:nvPicPr>
        <p:blipFill>
          <a:blip r:embed="rId3"/>
          <a:stretch>
            <a:fillRect/>
          </a:stretch>
        </p:blipFill>
        <p:spPr>
          <a:xfrm>
            <a:off x="4972050" y="1588770"/>
            <a:ext cx="251460" cy="251460"/>
          </a:xfrm>
          <a:prstGeom prst="rect">
            <a:avLst/>
          </a:prstGeom>
        </p:spPr>
      </p:pic>
      <p:sp>
        <p:nvSpPr>
          <p:cNvPr id="16" name="Text 11"/>
          <p:cNvSpPr txBox="1"/>
          <p:nvPr/>
        </p:nvSpPr>
        <p:spPr>
          <a:xfrm>
            <a:off x="4846320" y="2057400"/>
            <a:ext cx="1600200" cy="274320"/>
          </a:xfrm>
          <a:prstGeom prst="rect">
            <a:avLst/>
          </a:prstGeom>
          <a:noFill/>
          <a:ln/>
        </p:spPr>
        <p:txBody>
          <a:bodyPr wrap="square" lIns="0" tIns="0" rIns="0" bIns="0" rtlCol="0" anchor="t"/>
          <a:lstStyle/>
          <a:p>
            <a:pPr indent="0" marL="0">
              <a:buNone/>
            </a:pPr>
            <a:r>
              <a:rPr lang="en-US" sz="1600" b="1" dirty="0">
                <a:solidFill>
                  <a:schemeClr val="tx1"/>
                </a:solidFill>
              </a:rPr>
              <a:t>CloudWatch</a:t>
            </a:r>
            <a:endParaRPr lang="en-US" sz="1600" dirty="0"/>
          </a:p>
        </p:txBody>
      </p:sp>
      <p:sp>
        <p:nvSpPr>
          <p:cNvPr id="17" name="Text 12"/>
          <p:cNvSpPr txBox="1"/>
          <p:nvPr/>
        </p:nvSpPr>
        <p:spPr>
          <a:xfrm>
            <a:off x="4846320" y="2350008"/>
            <a:ext cx="1600200" cy="365760"/>
          </a:xfrm>
          <a:prstGeom prst="rect">
            <a:avLst/>
          </a:prstGeom>
          <a:noFill/>
          <a:ln/>
        </p:spPr>
        <p:txBody>
          <a:bodyPr wrap="square" lIns="0" tIns="0" rIns="0" bIns="0" rtlCol="0" anchor="t"/>
          <a:lstStyle/>
          <a:p>
            <a:pPr indent="0" marL="0">
              <a:buNone/>
            </a:pPr>
            <a:r>
              <a:rPr lang="en-US" sz="1200" dirty="0">
                <a:solidFill>
                  <a:schemeClr val="accent5"/>
                </a:solidFill>
              </a:rPr>
              <a:t>Monitors AWS infrastructure metrics</a:t>
            </a:r>
            <a:endParaRPr lang="en-US" sz="1200" dirty="0"/>
          </a:p>
        </p:txBody>
      </p:sp>
      <p:sp>
        <p:nvSpPr>
          <p:cNvPr id="18" name="Card"/>
          <p:cNvSpPr/>
          <p:nvPr/>
        </p:nvSpPr>
        <p:spPr>
          <a:xfrm>
            <a:off x="6766560" y="1280160"/>
            <a:ext cx="1920240" cy="1508760"/>
          </a:xfrm>
          <a:prstGeom prst="roundRect">
            <a:avLst>
              <a:gd name="adj" fmla="val 6061"/>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9" name="Icon circle"/>
          <p:cNvSpPr/>
          <p:nvPr/>
        </p:nvSpPr>
        <p:spPr>
          <a:xfrm>
            <a:off x="6949440" y="1463040"/>
            <a:ext cx="502920" cy="502920"/>
          </a:xfrm>
          <a:prstGeom prst="ellipse">
            <a:avLst/>
          </a:prstGeom>
          <a:solidFill>
            <a:schemeClr val="accent1"/>
          </a:solidFill>
          <a:ln w="12700">
            <a:solidFill>
              <a:schemeClr val="accent1"/>
            </a:solidFill>
            <a:prstDash val="solid"/>
          </a:ln>
        </p:spPr>
      </p:sp>
      <p:pic>
        <p:nvPicPr>
          <p:cNvPr id="20" name="Image 3" descr="FaDatabase">    </p:cNvPr>
          <p:cNvPicPr>
            <a:picLocks noChangeAspect="1"/>
          </p:cNvPicPr>
          <p:nvPr/>
        </p:nvPicPr>
        <p:blipFill>
          <a:blip r:embed="rId4"/>
          <a:stretch>
            <a:fillRect/>
          </a:stretch>
        </p:blipFill>
        <p:spPr>
          <a:xfrm>
            <a:off x="7075170" y="1588770"/>
            <a:ext cx="251460" cy="251460"/>
          </a:xfrm>
          <a:prstGeom prst="rect">
            <a:avLst/>
          </a:prstGeom>
        </p:spPr>
      </p:pic>
      <p:sp>
        <p:nvSpPr>
          <p:cNvPr id="21" name="Text 15"/>
          <p:cNvSpPr txBox="1"/>
          <p:nvPr/>
        </p:nvSpPr>
        <p:spPr>
          <a:xfrm>
            <a:off x="6949440" y="2057400"/>
            <a:ext cx="1600200" cy="274320"/>
          </a:xfrm>
          <a:prstGeom prst="rect">
            <a:avLst/>
          </a:prstGeom>
          <a:noFill/>
          <a:ln/>
        </p:spPr>
        <p:txBody>
          <a:bodyPr wrap="square" lIns="0" tIns="0" rIns="0" bIns="0" rtlCol="0" anchor="t"/>
          <a:lstStyle/>
          <a:p>
            <a:pPr indent="0" marL="0">
              <a:buNone/>
            </a:pPr>
            <a:r>
              <a:rPr lang="en-US" sz="1600" b="1" dirty="0">
                <a:solidFill>
                  <a:schemeClr val="tx1"/>
                </a:solidFill>
              </a:rPr>
              <a:t>Prometheus</a:t>
            </a:r>
            <a:endParaRPr lang="en-US" sz="1600" dirty="0"/>
          </a:p>
        </p:txBody>
      </p:sp>
      <p:sp>
        <p:nvSpPr>
          <p:cNvPr id="22" name="Text 16"/>
          <p:cNvSpPr txBox="1"/>
          <p:nvPr/>
        </p:nvSpPr>
        <p:spPr>
          <a:xfrm>
            <a:off x="6949440" y="2350008"/>
            <a:ext cx="1600200" cy="365760"/>
          </a:xfrm>
          <a:prstGeom prst="rect">
            <a:avLst/>
          </a:prstGeom>
          <a:noFill/>
          <a:ln/>
        </p:spPr>
        <p:txBody>
          <a:bodyPr wrap="square" lIns="0" tIns="0" rIns="0" bIns="0" rtlCol="0" anchor="t"/>
          <a:lstStyle/>
          <a:p>
            <a:pPr indent="0" marL="0">
              <a:buNone/>
            </a:pPr>
            <a:r>
              <a:rPr lang="en-US" sz="1200" dirty="0">
                <a:solidFill>
                  <a:schemeClr val="accent5"/>
                </a:solidFill>
              </a:rPr>
              <a:t>Collects and stores time-series metrics</a:t>
            </a:r>
            <a:endParaRPr lang="en-US" sz="1200" dirty="0"/>
          </a:p>
        </p:txBody>
      </p:sp>
      <p:sp>
        <p:nvSpPr>
          <p:cNvPr id="23" name="Card"/>
          <p:cNvSpPr/>
          <p:nvPr/>
        </p:nvSpPr>
        <p:spPr>
          <a:xfrm>
            <a:off x="457200" y="2971800"/>
            <a:ext cx="1920240" cy="1508760"/>
          </a:xfrm>
          <a:prstGeom prst="roundRect">
            <a:avLst>
              <a:gd name="adj" fmla="val 6061"/>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24" name="Icon circle"/>
          <p:cNvSpPr/>
          <p:nvPr/>
        </p:nvSpPr>
        <p:spPr>
          <a:xfrm>
            <a:off x="640080" y="3154680"/>
            <a:ext cx="502920" cy="502920"/>
          </a:xfrm>
          <a:prstGeom prst="ellipse">
            <a:avLst/>
          </a:prstGeom>
          <a:solidFill>
            <a:schemeClr val="accent2"/>
          </a:solidFill>
          <a:ln w="12700">
            <a:solidFill>
              <a:schemeClr val="accent2"/>
            </a:solidFill>
            <a:prstDash val="solid"/>
          </a:ln>
        </p:spPr>
      </p:sp>
      <p:pic>
        <p:nvPicPr>
          <p:cNvPr id="25" name="Image 4" descr="FaMicrochip">    </p:cNvPr>
          <p:cNvPicPr>
            <a:picLocks noChangeAspect="1"/>
          </p:cNvPicPr>
          <p:nvPr/>
        </p:nvPicPr>
        <p:blipFill>
          <a:blip r:embed="rId5"/>
          <a:stretch>
            <a:fillRect/>
          </a:stretch>
        </p:blipFill>
        <p:spPr>
          <a:xfrm>
            <a:off x="765810" y="3280410"/>
            <a:ext cx="251460" cy="251460"/>
          </a:xfrm>
          <a:prstGeom prst="rect">
            <a:avLst/>
          </a:prstGeom>
        </p:spPr>
      </p:pic>
      <p:sp>
        <p:nvSpPr>
          <p:cNvPr id="26" name="Text 19"/>
          <p:cNvSpPr txBox="1"/>
          <p:nvPr/>
        </p:nvSpPr>
        <p:spPr>
          <a:xfrm>
            <a:off x="640080" y="3749040"/>
            <a:ext cx="1600200" cy="274320"/>
          </a:xfrm>
          <a:prstGeom prst="rect">
            <a:avLst/>
          </a:prstGeom>
          <a:noFill/>
          <a:ln/>
        </p:spPr>
        <p:txBody>
          <a:bodyPr wrap="square" lIns="0" tIns="0" rIns="0" bIns="0" rtlCol="0" anchor="t"/>
          <a:lstStyle/>
          <a:p>
            <a:pPr indent="0" marL="0">
              <a:buNone/>
            </a:pPr>
            <a:r>
              <a:rPr lang="en-US" sz="1600" b="1" dirty="0">
                <a:solidFill>
                  <a:schemeClr val="tx1"/>
                </a:solidFill>
              </a:rPr>
              <a:t>Node Exporter</a:t>
            </a:r>
            <a:endParaRPr lang="en-US" sz="1600" dirty="0"/>
          </a:p>
        </p:txBody>
      </p:sp>
      <p:sp>
        <p:nvSpPr>
          <p:cNvPr id="27" name="Text 20"/>
          <p:cNvSpPr txBox="1"/>
          <p:nvPr/>
        </p:nvSpPr>
        <p:spPr>
          <a:xfrm>
            <a:off x="640080" y="4041648"/>
            <a:ext cx="1600200" cy="365760"/>
          </a:xfrm>
          <a:prstGeom prst="rect">
            <a:avLst/>
          </a:prstGeom>
          <a:noFill/>
          <a:ln/>
        </p:spPr>
        <p:txBody>
          <a:bodyPr wrap="square" lIns="0" tIns="0" rIns="0" bIns="0" rtlCol="0" anchor="t"/>
          <a:lstStyle/>
          <a:p>
            <a:pPr indent="0" marL="0">
              <a:buNone/>
            </a:pPr>
            <a:r>
              <a:rPr lang="en-US" sz="1200" dirty="0">
                <a:solidFill>
                  <a:schemeClr val="accent5"/>
                </a:solidFill>
              </a:rPr>
              <a:t>Exposes Linux system metrics</a:t>
            </a:r>
            <a:endParaRPr lang="en-US" sz="1200" dirty="0"/>
          </a:p>
        </p:txBody>
      </p:sp>
      <p:sp>
        <p:nvSpPr>
          <p:cNvPr id="28" name="Card"/>
          <p:cNvSpPr/>
          <p:nvPr/>
        </p:nvSpPr>
        <p:spPr>
          <a:xfrm>
            <a:off x="2560320" y="2971800"/>
            <a:ext cx="1920240" cy="1508760"/>
          </a:xfrm>
          <a:prstGeom prst="roundRect">
            <a:avLst>
              <a:gd name="adj" fmla="val 6061"/>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29" name="Icon circle"/>
          <p:cNvSpPr/>
          <p:nvPr/>
        </p:nvSpPr>
        <p:spPr>
          <a:xfrm>
            <a:off x="2743200" y="3154680"/>
            <a:ext cx="502920" cy="502920"/>
          </a:xfrm>
          <a:prstGeom prst="ellipse">
            <a:avLst/>
          </a:prstGeom>
          <a:solidFill>
            <a:schemeClr val="accent4"/>
          </a:solidFill>
          <a:ln w="12700">
            <a:solidFill>
              <a:schemeClr val="accent4"/>
            </a:solidFill>
            <a:prstDash val="solid"/>
          </a:ln>
        </p:spPr>
      </p:sp>
      <p:pic>
        <p:nvPicPr>
          <p:cNvPr id="30" name="Image 5" descr="FaChartLine">    </p:cNvPr>
          <p:cNvPicPr>
            <a:picLocks noChangeAspect="1"/>
          </p:cNvPicPr>
          <p:nvPr/>
        </p:nvPicPr>
        <p:blipFill>
          <a:blip r:embed="rId6"/>
          <a:stretch>
            <a:fillRect/>
          </a:stretch>
        </p:blipFill>
        <p:spPr>
          <a:xfrm>
            <a:off x="2868930" y="3280410"/>
            <a:ext cx="251460" cy="251460"/>
          </a:xfrm>
          <a:prstGeom prst="rect">
            <a:avLst/>
          </a:prstGeom>
        </p:spPr>
      </p:pic>
      <p:sp>
        <p:nvSpPr>
          <p:cNvPr id="31" name="Text 23"/>
          <p:cNvSpPr txBox="1"/>
          <p:nvPr/>
        </p:nvSpPr>
        <p:spPr>
          <a:xfrm>
            <a:off x="2743200" y="3749040"/>
            <a:ext cx="1600200" cy="274320"/>
          </a:xfrm>
          <a:prstGeom prst="rect">
            <a:avLst/>
          </a:prstGeom>
          <a:noFill/>
          <a:ln/>
        </p:spPr>
        <p:txBody>
          <a:bodyPr wrap="square" lIns="0" tIns="0" rIns="0" bIns="0" rtlCol="0" anchor="t"/>
          <a:lstStyle/>
          <a:p>
            <a:pPr indent="0" marL="0">
              <a:buNone/>
            </a:pPr>
            <a:r>
              <a:rPr lang="en-US" sz="1600" b="1" dirty="0">
                <a:solidFill>
                  <a:schemeClr val="tx1"/>
                </a:solidFill>
              </a:rPr>
              <a:t>Grafana</a:t>
            </a:r>
            <a:endParaRPr lang="en-US" sz="1600" dirty="0"/>
          </a:p>
        </p:txBody>
      </p:sp>
      <p:sp>
        <p:nvSpPr>
          <p:cNvPr id="32" name="Text 24"/>
          <p:cNvSpPr txBox="1"/>
          <p:nvPr/>
        </p:nvSpPr>
        <p:spPr>
          <a:xfrm>
            <a:off x="2743200" y="4041648"/>
            <a:ext cx="1600200" cy="365760"/>
          </a:xfrm>
          <a:prstGeom prst="rect">
            <a:avLst/>
          </a:prstGeom>
          <a:noFill/>
          <a:ln/>
        </p:spPr>
        <p:txBody>
          <a:bodyPr wrap="square" lIns="0" tIns="0" rIns="0" bIns="0" rtlCol="0" anchor="t"/>
          <a:lstStyle/>
          <a:p>
            <a:pPr indent="0" marL="0">
              <a:buNone/>
            </a:pPr>
            <a:r>
              <a:rPr lang="en-US" sz="1200" dirty="0">
                <a:solidFill>
                  <a:schemeClr val="accent5"/>
                </a:solidFill>
              </a:rPr>
              <a:t>Visualizes metrics in dashboards</a:t>
            </a:r>
            <a:endParaRPr lang="en-US" sz="1200" dirty="0"/>
          </a:p>
        </p:txBody>
      </p:sp>
      <p:sp>
        <p:nvSpPr>
          <p:cNvPr id="33" name="Card"/>
          <p:cNvSpPr/>
          <p:nvPr/>
        </p:nvSpPr>
        <p:spPr>
          <a:xfrm>
            <a:off x="4663440" y="2971800"/>
            <a:ext cx="1920240" cy="1508760"/>
          </a:xfrm>
          <a:prstGeom prst="roundRect">
            <a:avLst>
              <a:gd name="adj" fmla="val 6061"/>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34" name="Icon circle"/>
          <p:cNvSpPr/>
          <p:nvPr/>
        </p:nvSpPr>
        <p:spPr>
          <a:xfrm>
            <a:off x="4846320" y="3154680"/>
            <a:ext cx="502920" cy="502920"/>
          </a:xfrm>
          <a:prstGeom prst="ellipse">
            <a:avLst/>
          </a:prstGeom>
          <a:solidFill>
            <a:schemeClr val="accent1"/>
          </a:solidFill>
          <a:ln w="12700">
            <a:solidFill>
              <a:schemeClr val="accent1"/>
            </a:solidFill>
            <a:prstDash val="solid"/>
          </a:ln>
        </p:spPr>
      </p:sp>
      <p:pic>
        <p:nvPicPr>
          <p:cNvPr id="35" name="Image 6" descr="FaCode">    </p:cNvPr>
          <p:cNvPicPr>
            <a:picLocks noChangeAspect="1"/>
          </p:cNvPicPr>
          <p:nvPr/>
        </p:nvPicPr>
        <p:blipFill>
          <a:blip r:embed="rId7"/>
          <a:stretch>
            <a:fillRect/>
          </a:stretch>
        </p:blipFill>
        <p:spPr>
          <a:xfrm>
            <a:off x="4972050" y="3280410"/>
            <a:ext cx="251460" cy="251460"/>
          </a:xfrm>
          <a:prstGeom prst="rect">
            <a:avLst/>
          </a:prstGeom>
        </p:spPr>
      </p:pic>
      <p:sp>
        <p:nvSpPr>
          <p:cNvPr id="36" name="Text 27"/>
          <p:cNvSpPr txBox="1"/>
          <p:nvPr/>
        </p:nvSpPr>
        <p:spPr>
          <a:xfrm>
            <a:off x="4846320" y="3749040"/>
            <a:ext cx="1600200" cy="274320"/>
          </a:xfrm>
          <a:prstGeom prst="rect">
            <a:avLst/>
          </a:prstGeom>
          <a:noFill/>
          <a:ln/>
        </p:spPr>
        <p:txBody>
          <a:bodyPr wrap="square" lIns="0" tIns="0" rIns="0" bIns="0" rtlCol="0" anchor="t"/>
          <a:lstStyle/>
          <a:p>
            <a:pPr indent="0" marL="0">
              <a:buNone/>
            </a:pPr>
            <a:r>
              <a:rPr lang="en-US" sz="1600" b="1" dirty="0">
                <a:solidFill>
                  <a:schemeClr val="tx1"/>
                </a:solidFill>
              </a:rPr>
              <a:t>PromQL</a:t>
            </a:r>
            <a:endParaRPr lang="en-US" sz="1600" dirty="0"/>
          </a:p>
        </p:txBody>
      </p:sp>
      <p:sp>
        <p:nvSpPr>
          <p:cNvPr id="37" name="Text 28"/>
          <p:cNvSpPr txBox="1"/>
          <p:nvPr/>
        </p:nvSpPr>
        <p:spPr>
          <a:xfrm>
            <a:off x="4846320" y="4041648"/>
            <a:ext cx="1600200" cy="365760"/>
          </a:xfrm>
          <a:prstGeom prst="rect">
            <a:avLst/>
          </a:prstGeom>
          <a:noFill/>
          <a:ln/>
        </p:spPr>
        <p:txBody>
          <a:bodyPr wrap="square" lIns="0" tIns="0" rIns="0" bIns="0" rtlCol="0" anchor="t"/>
          <a:lstStyle/>
          <a:p>
            <a:pPr indent="0" marL="0">
              <a:buNone/>
            </a:pPr>
            <a:r>
              <a:rPr lang="en-US" sz="1200" dirty="0">
                <a:solidFill>
                  <a:schemeClr val="accent5"/>
                </a:solidFill>
              </a:rPr>
              <a:t>Queries metrics in Prometheus</a:t>
            </a:r>
            <a:endParaRPr lang="en-US" sz="1200" dirty="0"/>
          </a:p>
        </p:txBody>
      </p:sp>
      <p:sp>
        <p:nvSpPr>
          <p:cNvPr id="38" name="Card"/>
          <p:cNvSpPr/>
          <p:nvPr/>
        </p:nvSpPr>
        <p:spPr>
          <a:xfrm>
            <a:off x="6766560" y="2971800"/>
            <a:ext cx="1920240" cy="1508760"/>
          </a:xfrm>
          <a:prstGeom prst="roundRect">
            <a:avLst>
              <a:gd name="adj" fmla="val 6061"/>
            </a:avLst>
          </a:prstGeom>
          <a:solidFill>
            <a:schemeClr val="tx1"/>
          </a:solidFill>
          <a:ln w="12700">
            <a:solidFill>
              <a:schemeClr val="tx1"/>
            </a:solidFill>
            <a:prstDash val="solid"/>
          </a:ln>
          <a:effectLst>
            <a:outerShdw sx="100000" sy="100000" kx="0" ky="0" algn="bl" rotWithShape="0" blurRad="76200" dist="25400" dir="5400000">
              <a:srgbClr val="000000">
                <a:alpha val="10000"/>
              </a:srgbClr>
            </a:outerShdw>
          </a:effectLst>
        </p:spPr>
      </p:sp>
      <p:sp>
        <p:nvSpPr>
          <p:cNvPr id="39" name="Text 30"/>
          <p:cNvSpPr txBox="1"/>
          <p:nvPr/>
        </p:nvSpPr>
        <p:spPr>
          <a:xfrm>
            <a:off x="6995160" y="3108960"/>
            <a:ext cx="1554480" cy="123444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Monitor</a:t>
            </a:r>
            <a:endParaRPr lang="en-US" sz="2000" dirty="0"/>
          </a:p>
          <a:p>
            <a:pPr indent="0" marL="0">
              <a:buNone/>
            </a:pPr>
            <a:r>
              <a:rPr lang="en-US" sz="2000" b="1" dirty="0">
                <a:solidFill>
                  <a:schemeClr val="bg1"/>
                </a:solidFill>
                <a:latin typeface="Cambria" pitchFamily="34" charset="0"/>
                <a:ea typeface="Cambria" pitchFamily="34" charset="-122"/>
                <a:cs typeface="Cambria" pitchFamily="34" charset="-120"/>
              </a:rPr>
              <a:t>Collect</a:t>
            </a:r>
            <a:endParaRPr lang="en-US" sz="2000" dirty="0"/>
          </a:p>
          <a:p>
            <a:pPr indent="0" marL="0">
              <a:buNone/>
            </a:pPr>
            <a:r>
              <a:rPr lang="en-US" sz="2000" b="1" dirty="0">
                <a:solidFill>
                  <a:schemeClr val="bg1"/>
                </a:solidFill>
                <a:latin typeface="Cambria" pitchFamily="34" charset="0"/>
                <a:ea typeface="Cambria" pitchFamily="34" charset="-122"/>
                <a:cs typeface="Cambria" pitchFamily="34" charset="-120"/>
              </a:rPr>
              <a:t>Visualize</a:t>
            </a:r>
            <a:endParaRPr lang="en-US" sz="2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Project Architecture</a:t>
            </a:r>
            <a:endParaRPr lang="en-US" sz="3400" dirty="0"/>
          </a:p>
        </p:txBody>
      </p:sp>
      <p:sp>
        <p:nvSpPr>
          <p:cNvPr id="3" name="Card"/>
          <p:cNvSpPr/>
          <p:nvPr/>
        </p:nvSpPr>
        <p:spPr>
          <a:xfrm>
            <a:off x="365760" y="1965960"/>
            <a:ext cx="1463040" cy="1371600"/>
          </a:xfrm>
          <a:prstGeom prst="roundRect">
            <a:avLst>
              <a:gd name="adj" fmla="val 6667"/>
            </a:avLst>
          </a:prstGeom>
          <a:solidFill>
            <a:schemeClr val="tx1"/>
          </a:solidFill>
          <a:ln w="12700">
            <a:solidFill>
              <a:schemeClr val="tx1"/>
            </a:solidFill>
            <a:prstDash val="solid"/>
          </a:ln>
          <a:effectLst>
            <a:outerShdw sx="100000" sy="100000" kx="0" ky="0" algn="bl" rotWithShape="0" blurRad="76200" dist="25400" dir="5400000">
              <a:srgbClr val="000000">
                <a:alpha val="10000"/>
              </a:srgbClr>
            </a:outerShdw>
          </a:effectLst>
        </p:spPr>
      </p:sp>
      <p:sp>
        <p:nvSpPr>
          <p:cNvPr id="4" name="Text 2"/>
          <p:cNvSpPr txBox="1"/>
          <p:nvPr/>
        </p:nvSpPr>
        <p:spPr>
          <a:xfrm>
            <a:off x="457200" y="1965960"/>
            <a:ext cx="1280160" cy="1371600"/>
          </a:xfrm>
          <a:prstGeom prst="rect">
            <a:avLst/>
          </a:prstGeom>
          <a:noFill/>
          <a:ln/>
        </p:spPr>
        <p:txBody>
          <a:bodyPr wrap="square" lIns="0" tIns="0" rIns="0" bIns="0" rtlCol="0" anchor="ctr"/>
          <a:lstStyle/>
          <a:p>
            <a:pPr algn="ctr" indent="0" marL="0">
              <a:buNone/>
            </a:pPr>
            <a:r>
              <a:rPr lang="en-US" sz="1500" b="1" dirty="0">
                <a:solidFill>
                  <a:schemeClr val="bg1"/>
                </a:solidFill>
              </a:rPr>
              <a:t>AWS EC2</a:t>
            </a:r>
            <a:endParaRPr lang="en-US" sz="1400" dirty="0"/>
          </a:p>
          <a:p>
            <a:pPr algn="ctr" indent="0" marL="0">
              <a:buNone/>
            </a:pPr>
            <a:r>
              <a:rPr lang="en-US" sz="1200" dirty="0">
                <a:solidFill>
                  <a:schemeClr val="bg1"/>
                </a:solidFill>
              </a:rPr>
              <a:t>Ubuntu Server</a:t>
            </a:r>
            <a:endParaRPr lang="en-US" sz="1400" dirty="0"/>
          </a:p>
        </p:txBody>
      </p:sp>
      <p:sp>
        <p:nvSpPr>
          <p:cNvPr id="5" name="Card"/>
          <p:cNvSpPr/>
          <p:nvPr/>
        </p:nvSpPr>
        <p:spPr>
          <a:xfrm>
            <a:off x="2377440" y="1280160"/>
            <a:ext cx="1737360" cy="1005840"/>
          </a:xfrm>
          <a:prstGeom prst="roundRect">
            <a:avLst>
              <a:gd name="adj" fmla="val 9091"/>
            </a:avLst>
          </a:prstGeom>
          <a:solidFill>
            <a:schemeClr val="accent3"/>
          </a:solidFill>
          <a:ln w="12700">
            <a:solidFill>
              <a:schemeClr val="accent3"/>
            </a:solidFill>
            <a:prstDash val="solid"/>
          </a:ln>
          <a:effectLst>
            <a:outerShdw sx="100000" sy="100000" kx="0" ky="0" algn="bl" rotWithShape="0" blurRad="76200" dist="25400" dir="5400000">
              <a:srgbClr val="000000">
                <a:alpha val="10000"/>
              </a:srgbClr>
            </a:outerShdw>
          </a:effectLst>
        </p:spPr>
      </p:sp>
      <p:sp>
        <p:nvSpPr>
          <p:cNvPr id="6" name="Text 4"/>
          <p:cNvSpPr txBox="1"/>
          <p:nvPr/>
        </p:nvSpPr>
        <p:spPr>
          <a:xfrm>
            <a:off x="2468880" y="1280160"/>
            <a:ext cx="1554480" cy="1005840"/>
          </a:xfrm>
          <a:prstGeom prst="rect">
            <a:avLst/>
          </a:prstGeom>
          <a:noFill/>
          <a:ln/>
        </p:spPr>
        <p:txBody>
          <a:bodyPr wrap="square" lIns="0" tIns="0" rIns="0" bIns="0" rtlCol="0" anchor="ctr"/>
          <a:lstStyle/>
          <a:p>
            <a:pPr algn="ctr" indent="0" marL="0">
              <a:buNone/>
            </a:pPr>
            <a:r>
              <a:rPr lang="en-US" sz="1500" b="1" dirty="0">
                <a:solidFill>
                  <a:schemeClr val="tx1"/>
                </a:solidFill>
              </a:rPr>
              <a:t>CloudWatch</a:t>
            </a:r>
            <a:endParaRPr lang="en-US" sz="1400" dirty="0"/>
          </a:p>
          <a:p>
            <a:pPr algn="ctr" indent="0" marL="0">
              <a:buNone/>
            </a:pPr>
            <a:r>
              <a:rPr lang="en-US" sz="1200" dirty="0">
                <a:solidFill>
                  <a:schemeClr val="tx1"/>
                </a:solidFill>
              </a:rPr>
              <a:t>CPU · Network · Status</a:t>
            </a:r>
            <a:endParaRPr lang="en-US" sz="1400" dirty="0"/>
          </a:p>
        </p:txBody>
      </p:sp>
      <p:sp>
        <p:nvSpPr>
          <p:cNvPr id="7" name="Card"/>
          <p:cNvSpPr/>
          <p:nvPr/>
        </p:nvSpPr>
        <p:spPr>
          <a:xfrm>
            <a:off x="4754880" y="1280160"/>
            <a:ext cx="1737360" cy="1005840"/>
          </a:xfrm>
          <a:prstGeom prst="roundRect">
            <a:avLst>
              <a:gd name="adj" fmla="val 9091"/>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8" name="Text 6"/>
          <p:cNvSpPr txBox="1"/>
          <p:nvPr/>
        </p:nvSpPr>
        <p:spPr>
          <a:xfrm>
            <a:off x="4846320" y="1280160"/>
            <a:ext cx="1554480" cy="1005840"/>
          </a:xfrm>
          <a:prstGeom prst="rect">
            <a:avLst/>
          </a:prstGeom>
          <a:noFill/>
          <a:ln/>
        </p:spPr>
        <p:txBody>
          <a:bodyPr wrap="square" lIns="0" tIns="0" rIns="0" bIns="0" rtlCol="0" anchor="ctr"/>
          <a:lstStyle/>
          <a:p>
            <a:pPr algn="ctr" indent="0" marL="0">
              <a:buNone/>
            </a:pPr>
            <a:r>
              <a:rPr lang="en-US" sz="1500" b="1" dirty="0">
                <a:solidFill>
                  <a:schemeClr val="tx1"/>
                </a:solidFill>
              </a:rPr>
              <a:t>AWS Console</a:t>
            </a:r>
            <a:endParaRPr lang="en-US" sz="1400" dirty="0"/>
          </a:p>
          <a:p>
            <a:pPr algn="ctr" indent="0" marL="0">
              <a:buNone/>
            </a:pPr>
            <a:r>
              <a:rPr lang="en-US" sz="1200" dirty="0">
                <a:solidFill>
                  <a:schemeClr val="tx1"/>
                </a:solidFill>
              </a:rPr>
              <a:t>Viewed separately</a:t>
            </a:r>
            <a:endParaRPr lang="en-US" sz="1400" dirty="0"/>
          </a:p>
        </p:txBody>
      </p:sp>
      <p:sp>
        <p:nvSpPr>
          <p:cNvPr id="9" name="Card"/>
          <p:cNvSpPr/>
          <p:nvPr/>
        </p:nvSpPr>
        <p:spPr>
          <a:xfrm>
            <a:off x="2377440" y="3017520"/>
            <a:ext cx="1737360" cy="1005840"/>
          </a:xfrm>
          <a:prstGeom prst="roundRect">
            <a:avLst>
              <a:gd name="adj" fmla="val 9091"/>
            </a:avLst>
          </a:prstGeom>
          <a:solidFill>
            <a:schemeClr val="accent2"/>
          </a:solidFill>
          <a:ln w="12700">
            <a:solidFill>
              <a:schemeClr val="accent2"/>
            </a:solidFill>
            <a:prstDash val="solid"/>
          </a:ln>
          <a:effectLst>
            <a:outerShdw sx="100000" sy="100000" kx="0" ky="0" algn="bl" rotWithShape="0" blurRad="76200" dist="25400" dir="5400000">
              <a:srgbClr val="000000">
                <a:alpha val="10000"/>
              </a:srgbClr>
            </a:outerShdw>
          </a:effectLst>
        </p:spPr>
      </p:sp>
      <p:sp>
        <p:nvSpPr>
          <p:cNvPr id="10" name="Text 8"/>
          <p:cNvSpPr txBox="1"/>
          <p:nvPr/>
        </p:nvSpPr>
        <p:spPr>
          <a:xfrm>
            <a:off x="2468880" y="3017520"/>
            <a:ext cx="1554480" cy="1005840"/>
          </a:xfrm>
          <a:prstGeom prst="rect">
            <a:avLst/>
          </a:prstGeom>
          <a:noFill/>
          <a:ln/>
        </p:spPr>
        <p:txBody>
          <a:bodyPr wrap="square" lIns="0" tIns="0" rIns="0" bIns="0" rtlCol="0" anchor="ctr"/>
          <a:lstStyle/>
          <a:p>
            <a:pPr algn="ctr" indent="0" marL="0">
              <a:buNone/>
            </a:pPr>
            <a:r>
              <a:rPr lang="en-US" sz="1500" b="1" dirty="0">
                <a:solidFill>
                  <a:schemeClr val="bg1"/>
                </a:solidFill>
              </a:rPr>
              <a:t>Node Exporter</a:t>
            </a:r>
            <a:endParaRPr lang="en-US" sz="1400" dirty="0"/>
          </a:p>
          <a:p>
            <a:pPr algn="ctr" indent="0" marL="0">
              <a:buNone/>
            </a:pPr>
            <a:r>
              <a:rPr lang="en-US" sz="1200" dirty="0">
                <a:solidFill>
                  <a:schemeClr val="bg1"/>
                </a:solidFill>
              </a:rPr>
              <a:t>Linux CPU &amp; memory</a:t>
            </a:r>
            <a:endParaRPr lang="en-US" sz="1400" dirty="0"/>
          </a:p>
        </p:txBody>
      </p:sp>
      <p:sp>
        <p:nvSpPr>
          <p:cNvPr id="11" name="Card"/>
          <p:cNvSpPr/>
          <p:nvPr/>
        </p:nvSpPr>
        <p:spPr>
          <a:xfrm>
            <a:off x="4754880" y="3017520"/>
            <a:ext cx="1737360" cy="1005840"/>
          </a:xfrm>
          <a:prstGeom prst="roundRect">
            <a:avLst>
              <a:gd name="adj" fmla="val 9091"/>
            </a:avLst>
          </a:prstGeom>
          <a:solidFill>
            <a:schemeClr val="accent1"/>
          </a:solidFill>
          <a:ln w="12700">
            <a:solidFill>
              <a:schemeClr val="accent1"/>
            </a:solidFill>
            <a:prstDash val="solid"/>
          </a:ln>
          <a:effectLst>
            <a:outerShdw sx="100000" sy="100000" kx="0" ky="0" algn="bl" rotWithShape="0" blurRad="76200" dist="25400" dir="5400000">
              <a:srgbClr val="000000">
                <a:alpha val="10000"/>
              </a:srgbClr>
            </a:outerShdw>
          </a:effectLst>
        </p:spPr>
      </p:sp>
      <p:sp>
        <p:nvSpPr>
          <p:cNvPr id="12" name="Text 10"/>
          <p:cNvSpPr txBox="1"/>
          <p:nvPr/>
        </p:nvSpPr>
        <p:spPr>
          <a:xfrm>
            <a:off x="4846320" y="3017520"/>
            <a:ext cx="1554480" cy="1005840"/>
          </a:xfrm>
          <a:prstGeom prst="rect">
            <a:avLst/>
          </a:prstGeom>
          <a:noFill/>
          <a:ln/>
        </p:spPr>
        <p:txBody>
          <a:bodyPr wrap="square" lIns="0" tIns="0" rIns="0" bIns="0" rtlCol="0" anchor="ctr"/>
          <a:lstStyle/>
          <a:p>
            <a:pPr algn="ctr" indent="0" marL="0">
              <a:buNone/>
            </a:pPr>
            <a:r>
              <a:rPr lang="en-US" sz="1500" b="1" dirty="0">
                <a:solidFill>
                  <a:schemeClr val="bg1"/>
                </a:solidFill>
              </a:rPr>
              <a:t>Prometheus</a:t>
            </a:r>
            <a:endParaRPr lang="en-US" sz="1400" dirty="0"/>
          </a:p>
          <a:p>
            <a:pPr algn="ctr" indent="0" marL="0">
              <a:buNone/>
            </a:pPr>
            <a:r>
              <a:rPr lang="en-US" sz="1200" dirty="0">
                <a:solidFill>
                  <a:schemeClr val="bg1"/>
                </a:solidFill>
              </a:rPr>
              <a:t>Scrapes &amp; stores</a:t>
            </a:r>
            <a:endParaRPr lang="en-US" sz="1400" dirty="0"/>
          </a:p>
        </p:txBody>
      </p:sp>
      <p:sp>
        <p:nvSpPr>
          <p:cNvPr id="13" name="Card"/>
          <p:cNvSpPr/>
          <p:nvPr/>
        </p:nvSpPr>
        <p:spPr>
          <a:xfrm>
            <a:off x="7132320" y="3017520"/>
            <a:ext cx="1554480" cy="1005840"/>
          </a:xfrm>
          <a:prstGeom prst="roundRect">
            <a:avLst>
              <a:gd name="adj" fmla="val 9091"/>
            </a:avLst>
          </a:prstGeom>
          <a:solidFill>
            <a:schemeClr val="accent4"/>
          </a:solidFill>
          <a:ln w="12700">
            <a:solidFill>
              <a:schemeClr val="accent4"/>
            </a:solidFill>
            <a:prstDash val="solid"/>
          </a:ln>
          <a:effectLst>
            <a:outerShdw sx="100000" sy="100000" kx="0" ky="0" algn="bl" rotWithShape="0" blurRad="76200" dist="25400" dir="5400000">
              <a:srgbClr val="000000">
                <a:alpha val="10000"/>
              </a:srgbClr>
            </a:outerShdw>
          </a:effectLst>
        </p:spPr>
      </p:sp>
      <p:sp>
        <p:nvSpPr>
          <p:cNvPr id="14" name="Text 12"/>
          <p:cNvSpPr txBox="1"/>
          <p:nvPr/>
        </p:nvSpPr>
        <p:spPr>
          <a:xfrm>
            <a:off x="7223760" y="3017520"/>
            <a:ext cx="1371600" cy="1005840"/>
          </a:xfrm>
          <a:prstGeom prst="rect">
            <a:avLst/>
          </a:prstGeom>
          <a:noFill/>
          <a:ln/>
        </p:spPr>
        <p:txBody>
          <a:bodyPr wrap="square" lIns="0" tIns="0" rIns="0" bIns="0" rtlCol="0" anchor="ctr"/>
          <a:lstStyle/>
          <a:p>
            <a:pPr algn="ctr" indent="0" marL="0">
              <a:buNone/>
            </a:pPr>
            <a:r>
              <a:rPr lang="en-US" sz="1500" b="1" dirty="0">
                <a:solidFill>
                  <a:schemeClr val="bg1"/>
                </a:solidFill>
              </a:rPr>
              <a:t>Grafana</a:t>
            </a:r>
            <a:endParaRPr lang="en-US" sz="1400" dirty="0"/>
          </a:p>
          <a:p>
            <a:pPr algn="ctr" indent="0" marL="0">
              <a:buNone/>
            </a:pPr>
            <a:r>
              <a:rPr lang="en-US" sz="1200" dirty="0">
                <a:solidFill>
                  <a:schemeClr val="bg1"/>
                </a:solidFill>
              </a:rPr>
              <a:t>CPU &amp; memory dashboard</a:t>
            </a:r>
            <a:endParaRPr lang="en-US" sz="1400" dirty="0"/>
          </a:p>
        </p:txBody>
      </p:sp>
      <p:sp>
        <p:nvSpPr>
          <p:cNvPr id="15" name="Arrow"/>
          <p:cNvSpPr/>
          <p:nvPr/>
        </p:nvSpPr>
        <p:spPr>
          <a:xfrm flipV="1">
            <a:off x="1828800" y="1783080"/>
            <a:ext cx="548640" cy="868680"/>
          </a:xfrm>
          <a:prstGeom prst="line">
            <a:avLst/>
          </a:prstGeom>
          <a:noFill/>
          <a:ln w="25400">
            <a:solidFill>
              <a:schemeClr val="accent5"/>
            </a:solidFill>
            <a:prstDash val="solid"/>
            <a:tailEnd type="triangle"/>
          </a:ln>
        </p:spPr>
      </p:sp>
      <p:sp>
        <p:nvSpPr>
          <p:cNvPr id="16" name="Arrow"/>
          <p:cNvSpPr/>
          <p:nvPr/>
        </p:nvSpPr>
        <p:spPr>
          <a:xfrm>
            <a:off x="1828800" y="2651760"/>
            <a:ext cx="548640" cy="868680"/>
          </a:xfrm>
          <a:prstGeom prst="line">
            <a:avLst/>
          </a:prstGeom>
          <a:noFill/>
          <a:ln w="25400">
            <a:solidFill>
              <a:schemeClr val="accent5"/>
            </a:solidFill>
            <a:prstDash val="solid"/>
            <a:tailEnd type="triangle"/>
          </a:ln>
        </p:spPr>
      </p:sp>
      <p:sp>
        <p:nvSpPr>
          <p:cNvPr id="17" name="Arrow"/>
          <p:cNvSpPr/>
          <p:nvPr/>
        </p:nvSpPr>
        <p:spPr>
          <a:xfrm>
            <a:off x="4114800" y="1783080"/>
            <a:ext cx="640080" cy="0"/>
          </a:xfrm>
          <a:prstGeom prst="line">
            <a:avLst/>
          </a:prstGeom>
          <a:noFill/>
          <a:ln w="25400">
            <a:solidFill>
              <a:schemeClr val="accent5"/>
            </a:solidFill>
            <a:prstDash val="solid"/>
            <a:tailEnd type="triangle"/>
          </a:ln>
        </p:spPr>
      </p:sp>
      <p:sp>
        <p:nvSpPr>
          <p:cNvPr id="18" name="Arrow"/>
          <p:cNvSpPr/>
          <p:nvPr/>
        </p:nvSpPr>
        <p:spPr>
          <a:xfrm>
            <a:off x="4114800" y="3520440"/>
            <a:ext cx="640080" cy="0"/>
          </a:xfrm>
          <a:prstGeom prst="line">
            <a:avLst/>
          </a:prstGeom>
          <a:noFill/>
          <a:ln w="25400">
            <a:solidFill>
              <a:schemeClr val="accent5"/>
            </a:solidFill>
            <a:prstDash val="solid"/>
            <a:tailEnd type="triangle"/>
          </a:ln>
        </p:spPr>
      </p:sp>
      <p:sp>
        <p:nvSpPr>
          <p:cNvPr id="19" name="Arrow"/>
          <p:cNvSpPr/>
          <p:nvPr/>
        </p:nvSpPr>
        <p:spPr>
          <a:xfrm>
            <a:off x="6492240" y="3520440"/>
            <a:ext cx="640080" cy="0"/>
          </a:xfrm>
          <a:prstGeom prst="line">
            <a:avLst/>
          </a:prstGeom>
          <a:noFill/>
          <a:ln w="25400">
            <a:solidFill>
              <a:schemeClr val="accent5"/>
            </a:solidFill>
            <a:prstDash val="solid"/>
            <a:tailEnd type="triangle"/>
          </a:ln>
        </p:spPr>
      </p:sp>
      <p:sp>
        <p:nvSpPr>
          <p:cNvPr id="20" name="Text 18"/>
          <p:cNvSpPr txBox="1"/>
          <p:nvPr/>
        </p:nvSpPr>
        <p:spPr>
          <a:xfrm>
            <a:off x="4114800" y="3200400"/>
            <a:ext cx="640080" cy="274320"/>
          </a:xfrm>
          <a:prstGeom prst="rect">
            <a:avLst/>
          </a:prstGeom>
          <a:noFill/>
          <a:ln/>
        </p:spPr>
        <p:txBody>
          <a:bodyPr wrap="square" lIns="0" tIns="0" rIns="0" bIns="0" rtlCol="0" anchor="t"/>
          <a:lstStyle/>
          <a:p>
            <a:pPr algn="ctr" indent="0" marL="0">
              <a:buNone/>
            </a:pPr>
            <a:r>
              <a:rPr lang="en-US" sz="1000" dirty="0">
                <a:solidFill>
                  <a:schemeClr val="accent5"/>
                </a:solidFill>
              </a:rPr>
              <a:t>Port 9100</a:t>
            </a:r>
            <a:endParaRPr lang="en-US" sz="1000" dirty="0"/>
          </a:p>
        </p:txBody>
      </p:sp>
      <p:sp>
        <p:nvSpPr>
          <p:cNvPr id="21" name="Text 19"/>
          <p:cNvSpPr txBox="1"/>
          <p:nvPr/>
        </p:nvSpPr>
        <p:spPr>
          <a:xfrm>
            <a:off x="6492240" y="3200400"/>
            <a:ext cx="640080" cy="274320"/>
          </a:xfrm>
          <a:prstGeom prst="rect">
            <a:avLst/>
          </a:prstGeom>
          <a:noFill/>
          <a:ln/>
        </p:spPr>
        <p:txBody>
          <a:bodyPr wrap="square" lIns="0" tIns="0" rIns="0" bIns="0" rtlCol="0" anchor="t"/>
          <a:lstStyle/>
          <a:p>
            <a:pPr algn="ctr" indent="0" marL="0">
              <a:buNone/>
            </a:pPr>
            <a:r>
              <a:rPr lang="en-US" sz="1000" dirty="0">
                <a:solidFill>
                  <a:schemeClr val="accent5"/>
                </a:solidFill>
              </a:rPr>
              <a:t>Port 9090</a:t>
            </a:r>
            <a:endParaRPr lang="en-US" sz="1000" dirty="0"/>
          </a:p>
        </p:txBody>
      </p:sp>
      <p:sp>
        <p:nvSpPr>
          <p:cNvPr id="22" name="Card"/>
          <p:cNvSpPr/>
          <p:nvPr/>
        </p:nvSpPr>
        <p:spPr>
          <a:xfrm>
            <a:off x="457200" y="4206240"/>
            <a:ext cx="8229600" cy="457200"/>
          </a:xfrm>
          <a:prstGeom prst="roundRect">
            <a:avLst>
              <a:gd name="adj" fmla="val 20000"/>
            </a:avLst>
          </a:prstGeom>
          <a:solidFill>
            <a:schemeClr val="bg2"/>
          </a:solidFill>
          <a:ln w="12700">
            <a:solidFill>
              <a:schemeClr val="bg2"/>
            </a:solidFill>
            <a:prstDash val="solid"/>
          </a:ln>
        </p:spPr>
      </p:sp>
      <p:sp>
        <p:nvSpPr>
          <p:cNvPr id="23" name="Text 21"/>
          <p:cNvSpPr txBox="1"/>
          <p:nvPr/>
        </p:nvSpPr>
        <p:spPr>
          <a:xfrm>
            <a:off x="640080" y="4206240"/>
            <a:ext cx="7863840" cy="457200"/>
          </a:xfrm>
          <a:prstGeom prst="rect">
            <a:avLst/>
          </a:prstGeom>
          <a:noFill/>
          <a:ln/>
        </p:spPr>
        <p:txBody>
          <a:bodyPr wrap="square" lIns="0" tIns="0" rIns="0" bIns="0" rtlCol="0" anchor="ctr"/>
          <a:lstStyle/>
          <a:p>
            <a:pPr indent="0" marL="0">
              <a:buNone/>
            </a:pPr>
            <a:r>
              <a:rPr lang="en-US" sz="1400" dirty="0">
                <a:solidFill>
                  <a:schemeClr val="tx1"/>
                </a:solidFill>
              </a:rPr>
              <a:t>CloudWatch and Prometheus are separate systems. Grafana reads from Prometheus.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EC2 &amp; Security Group</a:t>
            </a:r>
            <a:endParaRPr lang="en-US" sz="3400" dirty="0"/>
          </a:p>
        </p:txBody>
      </p:sp>
      <p:sp>
        <p:nvSpPr>
          <p:cNvPr id="3" name="Number badge"/>
          <p:cNvSpPr/>
          <p:nvPr/>
        </p:nvSpPr>
        <p:spPr>
          <a:xfrm>
            <a:off x="457200" y="1344168"/>
            <a:ext cx="365760" cy="365760"/>
          </a:xfrm>
          <a:prstGeom prst="ellipse">
            <a:avLst/>
          </a:prstGeom>
          <a:solidFill>
            <a:schemeClr val="accent1"/>
          </a:solidFill>
          <a:ln w="12700">
            <a:solidFill>
              <a:schemeClr val="accent1"/>
            </a:solidFill>
            <a:prstDash val="solid"/>
          </a:ln>
        </p:spPr>
      </p:sp>
      <p:sp>
        <p:nvSpPr>
          <p:cNvPr id="4" name="Text 2"/>
          <p:cNvSpPr txBox="1"/>
          <p:nvPr/>
        </p:nvSpPr>
        <p:spPr>
          <a:xfrm>
            <a:off x="457200"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1005840" y="1280160"/>
            <a:ext cx="3383280" cy="493776"/>
          </a:xfrm>
          <a:prstGeom prst="rect">
            <a:avLst/>
          </a:prstGeom>
          <a:noFill/>
          <a:ln/>
        </p:spPr>
        <p:txBody>
          <a:bodyPr wrap="square" lIns="0" tIns="0" rIns="0" bIns="0" rtlCol="0" anchor="ctr"/>
          <a:lstStyle/>
          <a:p>
            <a:pPr indent="0" marL="0">
              <a:buNone/>
            </a:pPr>
            <a:r>
              <a:rPr lang="en-US" sz="1400" dirty="0">
                <a:solidFill>
                  <a:schemeClr val="tx1"/>
                </a:solidFill>
              </a:rPr>
              <a:t>Open AWS Management Console</a:t>
            </a:r>
            <a:endParaRPr lang="en-US" sz="1400" dirty="0"/>
          </a:p>
        </p:txBody>
      </p:sp>
      <p:sp>
        <p:nvSpPr>
          <p:cNvPr id="6" name="Number badge"/>
          <p:cNvSpPr/>
          <p:nvPr/>
        </p:nvSpPr>
        <p:spPr>
          <a:xfrm>
            <a:off x="457200" y="1892808"/>
            <a:ext cx="365760" cy="365760"/>
          </a:xfrm>
          <a:prstGeom prst="ellipse">
            <a:avLst/>
          </a:prstGeom>
          <a:solidFill>
            <a:schemeClr val="accent1"/>
          </a:solidFill>
          <a:ln w="12700">
            <a:solidFill>
              <a:schemeClr val="accent1"/>
            </a:solidFill>
            <a:prstDash val="solid"/>
          </a:ln>
        </p:spPr>
      </p:sp>
      <p:sp>
        <p:nvSpPr>
          <p:cNvPr id="7" name="Text 5"/>
          <p:cNvSpPr txBox="1"/>
          <p:nvPr/>
        </p:nvSpPr>
        <p:spPr>
          <a:xfrm>
            <a:off x="457200" y="189280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Text 6"/>
          <p:cNvSpPr txBox="1"/>
          <p:nvPr/>
        </p:nvSpPr>
        <p:spPr>
          <a:xfrm>
            <a:off x="1005840" y="1828800"/>
            <a:ext cx="3383280" cy="493776"/>
          </a:xfrm>
          <a:prstGeom prst="rect">
            <a:avLst/>
          </a:prstGeom>
          <a:noFill/>
          <a:ln/>
        </p:spPr>
        <p:txBody>
          <a:bodyPr wrap="square" lIns="0" tIns="0" rIns="0" bIns="0" rtlCol="0" anchor="ctr"/>
          <a:lstStyle/>
          <a:p>
            <a:pPr indent="0" marL="0">
              <a:buNone/>
            </a:pPr>
            <a:r>
              <a:rPr lang="en-US" sz="1400" dirty="0">
                <a:solidFill>
                  <a:schemeClr val="tx1"/>
                </a:solidFill>
              </a:rPr>
              <a:t>Go to the EC2 service</a:t>
            </a:r>
            <a:endParaRPr lang="en-US" sz="1400" dirty="0"/>
          </a:p>
        </p:txBody>
      </p:sp>
      <p:sp>
        <p:nvSpPr>
          <p:cNvPr id="9" name="Number badge"/>
          <p:cNvSpPr/>
          <p:nvPr/>
        </p:nvSpPr>
        <p:spPr>
          <a:xfrm>
            <a:off x="457200" y="2441448"/>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457200" y="244144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 9"/>
          <p:cNvSpPr txBox="1"/>
          <p:nvPr/>
        </p:nvSpPr>
        <p:spPr>
          <a:xfrm>
            <a:off x="1005840" y="2377440"/>
            <a:ext cx="3383280" cy="493776"/>
          </a:xfrm>
          <a:prstGeom prst="rect">
            <a:avLst/>
          </a:prstGeom>
          <a:noFill/>
          <a:ln/>
        </p:spPr>
        <p:txBody>
          <a:bodyPr wrap="square" lIns="0" tIns="0" rIns="0" bIns="0" rtlCol="0" anchor="ctr"/>
          <a:lstStyle/>
          <a:p>
            <a:pPr indent="0" marL="0">
              <a:buNone/>
            </a:pPr>
            <a:r>
              <a:rPr lang="en-US" sz="1400" dirty="0">
                <a:solidFill>
                  <a:schemeClr val="tx1"/>
                </a:solidFill>
              </a:rPr>
              <a:t>Launch an Ubuntu instance</a:t>
            </a:r>
            <a:endParaRPr lang="en-US" sz="1400" dirty="0"/>
          </a:p>
        </p:txBody>
      </p:sp>
      <p:sp>
        <p:nvSpPr>
          <p:cNvPr id="12" name="Number badge"/>
          <p:cNvSpPr/>
          <p:nvPr/>
        </p:nvSpPr>
        <p:spPr>
          <a:xfrm>
            <a:off x="457200" y="2990088"/>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457200" y="299008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4" name="Text 12"/>
          <p:cNvSpPr txBox="1"/>
          <p:nvPr/>
        </p:nvSpPr>
        <p:spPr>
          <a:xfrm>
            <a:off x="1005840" y="2926080"/>
            <a:ext cx="3383280" cy="493776"/>
          </a:xfrm>
          <a:prstGeom prst="rect">
            <a:avLst/>
          </a:prstGeom>
          <a:noFill/>
          <a:ln/>
        </p:spPr>
        <p:txBody>
          <a:bodyPr wrap="square" lIns="0" tIns="0" rIns="0" bIns="0" rtlCol="0" anchor="ctr"/>
          <a:lstStyle/>
          <a:p>
            <a:pPr indent="0" marL="0">
              <a:buNone/>
            </a:pPr>
            <a:r>
              <a:rPr lang="en-US" sz="1400" dirty="0">
                <a:solidFill>
                  <a:schemeClr val="tx1"/>
                </a:solidFill>
              </a:rPr>
              <a:t>Configure instance &amp; security group</a:t>
            </a:r>
            <a:endParaRPr lang="en-US" sz="1400" dirty="0"/>
          </a:p>
        </p:txBody>
      </p:sp>
      <p:sp>
        <p:nvSpPr>
          <p:cNvPr id="15" name="Number badge"/>
          <p:cNvSpPr/>
          <p:nvPr/>
        </p:nvSpPr>
        <p:spPr>
          <a:xfrm>
            <a:off x="457200" y="3538728"/>
            <a:ext cx="365760" cy="365760"/>
          </a:xfrm>
          <a:prstGeom prst="ellipse">
            <a:avLst/>
          </a:prstGeom>
          <a:solidFill>
            <a:schemeClr val="accent1"/>
          </a:solidFill>
          <a:ln w="12700">
            <a:solidFill>
              <a:schemeClr val="accent1"/>
            </a:solidFill>
            <a:prstDash val="solid"/>
          </a:ln>
        </p:spPr>
      </p:sp>
      <p:sp>
        <p:nvSpPr>
          <p:cNvPr id="16" name="Text 14"/>
          <p:cNvSpPr txBox="1"/>
          <p:nvPr/>
        </p:nvSpPr>
        <p:spPr>
          <a:xfrm>
            <a:off x="457200" y="353872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7" name="Text 15"/>
          <p:cNvSpPr txBox="1"/>
          <p:nvPr/>
        </p:nvSpPr>
        <p:spPr>
          <a:xfrm>
            <a:off x="1005840" y="3474720"/>
            <a:ext cx="3383280" cy="493776"/>
          </a:xfrm>
          <a:prstGeom prst="rect">
            <a:avLst/>
          </a:prstGeom>
          <a:noFill/>
          <a:ln/>
        </p:spPr>
        <p:txBody>
          <a:bodyPr wrap="square" lIns="0" tIns="0" rIns="0" bIns="0" rtlCol="0" anchor="ctr"/>
          <a:lstStyle/>
          <a:p>
            <a:pPr indent="0" marL="0">
              <a:buNone/>
            </a:pPr>
            <a:r>
              <a:rPr lang="en-US" sz="1400" dirty="0">
                <a:solidFill>
                  <a:schemeClr val="tx1"/>
                </a:solidFill>
              </a:rPr>
              <a:t>Connect to the instance</a:t>
            </a:r>
            <a:endParaRPr lang="en-US" sz="1400" dirty="0"/>
          </a:p>
        </p:txBody>
      </p:sp>
      <p:sp>
        <p:nvSpPr>
          <p:cNvPr id="18" name="Number badge"/>
          <p:cNvSpPr/>
          <p:nvPr/>
        </p:nvSpPr>
        <p:spPr>
          <a:xfrm>
            <a:off x="457200" y="4087368"/>
            <a:ext cx="365760" cy="365760"/>
          </a:xfrm>
          <a:prstGeom prst="ellipse">
            <a:avLst/>
          </a:prstGeom>
          <a:solidFill>
            <a:schemeClr val="accent1"/>
          </a:solidFill>
          <a:ln w="12700">
            <a:solidFill>
              <a:schemeClr val="accent1"/>
            </a:solidFill>
            <a:prstDash val="solid"/>
          </a:ln>
        </p:spPr>
      </p:sp>
      <p:sp>
        <p:nvSpPr>
          <p:cNvPr id="19" name="Text 17"/>
          <p:cNvSpPr txBox="1"/>
          <p:nvPr/>
        </p:nvSpPr>
        <p:spPr>
          <a:xfrm>
            <a:off x="457200" y="40873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0" name="Text 18"/>
          <p:cNvSpPr txBox="1"/>
          <p:nvPr/>
        </p:nvSpPr>
        <p:spPr>
          <a:xfrm>
            <a:off x="1005840" y="4023360"/>
            <a:ext cx="3383280" cy="493776"/>
          </a:xfrm>
          <a:prstGeom prst="rect">
            <a:avLst/>
          </a:prstGeom>
          <a:noFill/>
          <a:ln/>
        </p:spPr>
        <p:txBody>
          <a:bodyPr wrap="square" lIns="0" tIns="0" rIns="0" bIns="0" rtlCol="0" anchor="ctr"/>
          <a:lstStyle/>
          <a:p>
            <a:pPr indent="0" marL="0">
              <a:buNone/>
            </a:pPr>
            <a:r>
              <a:rPr lang="en-US" sz="1400" dirty="0">
                <a:solidFill>
                  <a:schemeClr val="tx1"/>
                </a:solidFill>
              </a:rPr>
              <a:t>Install the monitoring tools</a:t>
            </a:r>
            <a:endParaRPr lang="en-US" sz="1400" dirty="0"/>
          </a:p>
        </p:txBody>
      </p:sp>
      <p:graphicFrame>
        <p:nvGraphicFramePr>
          <p:cNvPr id="7" name="Ports table"/>
          <p:cNvGraphicFramePr>
            <a:graphicFrameLocks noGrp="1"/>
          </p:cNvGraphicFramePr>
          <p:nvPr>
            <p:extLst>
              <p:ext uri="{D42A27DB-BD31-4B8C-83A1-F6EECF244321}">
                <p14:modId xmlns:p14="http://schemas.microsoft.com/office/powerpoint/2010/main" val="1579011935"/>
              </p:ext>
            </p:extLst>
          </p:nvPr>
        </p:nvGraphicFramePr>
        <p:xfrm>
          <a:off x="4754880" y="1280160"/>
          <a:ext cx="3931920" cy="914400"/>
        </p:xfrm>
        <a:graphic>
          <a:graphicData uri="http://schemas.openxmlformats.org/drawingml/2006/table">
            <a:tbl>
              <a:tblPr/>
              <a:tblGrid>
                <a:gridCol w="914400"/>
                <a:gridCol w="3017520"/>
              </a:tblGrid>
              <a:tr h="402336">
                <a:tc>
                  <a:txBody>
                    <a:bodyPr/>
                    <a:lstStyle/>
                    <a:p>
                      <a:pPr indent="0" marL="0">
                        <a:buNone/>
                      </a:pPr>
                      <a:r>
                        <a:rPr lang="en-US" sz="1400" b="1" dirty="0">
                          <a:solidFill>
                            <a:schemeClr val="bg1"/>
                          </a:solidFill>
                        </a:rPr>
                        <a:t>Port</a:t>
                      </a:r>
                      <a:endParaRPr lang="en-US" sz="1400" dirty="0"/>
                    </a:p>
                  </a:txBody>
                  <a:tcPr marL="109728" marR="109728" marT="0" marB="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Purpose</a:t>
                      </a:r>
                      <a:endParaRPr lang="en-US" sz="1400" dirty="0"/>
                    </a:p>
                  </a:txBody>
                  <a:tcPr marL="109728" marR="109728" marT="0" marB="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tx1"/>
                    </a:solidFill>
                  </a:tcPr>
                </a:tc>
              </a:tr>
              <a:tr h="402336">
                <a:tc>
                  <a:txBody>
                    <a:bodyPr/>
                    <a:lstStyle/>
                    <a:p>
                      <a:pPr indent="0" marL="0">
                        <a:buNone/>
                      </a:pPr>
                      <a:r>
                        <a:rPr lang="en-US" sz="1400" b="1" dirty="0">
                          <a:solidFill>
                            <a:schemeClr val="tx1"/>
                          </a:solidFill>
                        </a:rPr>
                        <a:t>22</a:t>
                      </a:r>
                      <a:endParaRPr lang="en-US" sz="1400" dirty="0"/>
                    </a:p>
                  </a:txBody>
                  <a:tcPr marL="109728" marR="109728" marT="0" marB="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SSH access</a:t>
                      </a:r>
                      <a:endParaRPr lang="en-US" sz="1400" dirty="0"/>
                    </a:p>
                  </a:txBody>
                  <a:tcPr marL="109728" marR="109728" marT="0" marB="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r>
              <a:tr h="402336">
                <a:tc>
                  <a:txBody>
                    <a:bodyPr/>
                    <a:lstStyle/>
                    <a:p>
                      <a:pPr indent="0" marL="0">
                        <a:buNone/>
                      </a:pPr>
                      <a:r>
                        <a:rPr lang="en-US" sz="1400" b="1" dirty="0">
                          <a:solidFill>
                            <a:schemeClr val="tx1"/>
                          </a:solidFill>
                        </a:rPr>
                        <a:t>3000</a:t>
                      </a:r>
                      <a:endParaRPr lang="en-US" sz="1400" dirty="0"/>
                    </a:p>
                  </a:txBody>
                  <a:tcPr marL="109728" marR="109728" marT="0" marB="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Grafana web interface</a:t>
                      </a:r>
                      <a:endParaRPr lang="en-US" sz="1400" dirty="0"/>
                    </a:p>
                  </a:txBody>
                  <a:tcPr marL="109728" marR="109728" marT="0" marB="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r>
              <a:tr h="402336">
                <a:tc>
                  <a:txBody>
                    <a:bodyPr/>
                    <a:lstStyle/>
                    <a:p>
                      <a:pPr indent="0" marL="0">
                        <a:buNone/>
                      </a:pPr>
                      <a:r>
                        <a:rPr lang="en-US" sz="1400" b="1" dirty="0">
                          <a:solidFill>
                            <a:schemeClr val="tx1"/>
                          </a:solidFill>
                        </a:rPr>
                        <a:t>9090</a:t>
                      </a:r>
                      <a:endParaRPr lang="en-US" sz="1400" dirty="0"/>
                    </a:p>
                  </a:txBody>
                  <a:tcPr marL="109728" marR="109728" marT="0" marB="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Prometheus web interface</a:t>
                      </a:r>
                      <a:endParaRPr lang="en-US" sz="1400" dirty="0"/>
                    </a:p>
                  </a:txBody>
                  <a:tcPr marL="109728" marR="109728" marT="0" marB="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2"/>
                    </a:solidFill>
                  </a:tcPr>
                </a:tc>
              </a:tr>
              <a:tr h="402336">
                <a:tc>
                  <a:txBody>
                    <a:bodyPr/>
                    <a:lstStyle/>
                    <a:p>
                      <a:pPr indent="0" marL="0">
                        <a:buNone/>
                      </a:pPr>
                      <a:r>
                        <a:rPr lang="en-US" sz="1400" b="1" dirty="0">
                          <a:solidFill>
                            <a:schemeClr val="tx1"/>
                          </a:solidFill>
                        </a:rPr>
                        <a:t>9100</a:t>
                      </a:r>
                      <a:endParaRPr lang="en-US" sz="1400" dirty="0"/>
                    </a:p>
                  </a:txBody>
                  <a:tcPr marL="109728" marR="109728" marT="0" marB="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Node Exporter metrics</a:t>
                      </a:r>
                      <a:endParaRPr lang="en-US" sz="1400" dirty="0"/>
                    </a:p>
                  </a:txBody>
                  <a:tcPr marL="109728" marR="109728" marT="0" marB="0" anchor="ctr">
                    <a:lnL w="12700" cap="flat" cmpd="sng" algn="ctr">
                      <a:solidFill>
                        <a:schemeClr val="accent6"/>
                      </a:solidFill>
                      <a:prstDash val="solid"/>
                      <a:round/>
                      <a:headEnd type="none" w="med" len="med"/>
                      <a:tailEnd type="none" w="med" len="med"/>
                    </a:lnL>
                    <a:lnR w="12700" cap="flat" cmpd="sng" algn="ctr">
                      <a:solidFill>
                        <a:schemeClr val="accent6"/>
                      </a:solid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solidFill>
                      <a:schemeClr val="bg1"/>
                    </a:solidFill>
                  </a:tcPr>
                </a:tc>
              </a:tr>
            </a:tbl>
          </a:graphicData>
        </a:graphic>
      </p:graphicFrame>
      <p:sp>
        <p:nvSpPr>
          <p:cNvPr id="22" name="Card"/>
          <p:cNvSpPr/>
          <p:nvPr/>
        </p:nvSpPr>
        <p:spPr>
          <a:xfrm>
            <a:off x="4754880" y="3520440"/>
            <a:ext cx="3931920" cy="1051560"/>
          </a:xfrm>
          <a:prstGeom prst="roundRect">
            <a:avLst>
              <a:gd name="adj" fmla="val 8696"/>
            </a:avLst>
          </a:prstGeom>
          <a:solidFill>
            <a:schemeClr val="bg2"/>
          </a:solidFill>
          <a:ln w="12700">
            <a:solidFill>
              <a:schemeClr val="bg2"/>
            </a:solidFill>
            <a:prstDash val="solid"/>
          </a:ln>
        </p:spPr>
      </p:sp>
      <p:sp>
        <p:nvSpPr>
          <p:cNvPr id="23" name="Icon circle"/>
          <p:cNvSpPr/>
          <p:nvPr/>
        </p:nvSpPr>
        <p:spPr>
          <a:xfrm>
            <a:off x="4937760" y="3749040"/>
            <a:ext cx="594360" cy="594360"/>
          </a:xfrm>
          <a:prstGeom prst="ellipse">
            <a:avLst/>
          </a:prstGeom>
          <a:solidFill>
            <a:schemeClr val="accent1"/>
          </a:solidFill>
          <a:ln w="12700">
            <a:solidFill>
              <a:schemeClr val="accent1"/>
            </a:solidFill>
            <a:prstDash val="solid"/>
          </a:ln>
        </p:spPr>
      </p:sp>
      <p:pic>
        <p:nvPicPr>
          <p:cNvPr id="24" name="Image 0" descr="FaShieldAlt">    </p:cNvPr>
          <p:cNvPicPr>
            <a:picLocks noChangeAspect="1"/>
          </p:cNvPicPr>
          <p:nvPr/>
        </p:nvPicPr>
        <p:blipFill>
          <a:blip r:embed="rId1"/>
          <a:stretch>
            <a:fillRect/>
          </a:stretch>
        </p:blipFill>
        <p:spPr>
          <a:xfrm>
            <a:off x="5086350" y="3897630"/>
            <a:ext cx="297180" cy="297180"/>
          </a:xfrm>
          <a:prstGeom prst="rect">
            <a:avLst/>
          </a:prstGeom>
        </p:spPr>
      </p:pic>
      <p:sp>
        <p:nvSpPr>
          <p:cNvPr id="25" name="Text 21"/>
          <p:cNvSpPr txBox="1"/>
          <p:nvPr/>
        </p:nvSpPr>
        <p:spPr>
          <a:xfrm>
            <a:off x="5715000" y="3566160"/>
            <a:ext cx="2834640" cy="960120"/>
          </a:xfrm>
          <a:prstGeom prst="rect">
            <a:avLst/>
          </a:prstGeom>
          <a:noFill/>
          <a:ln/>
        </p:spPr>
        <p:txBody>
          <a:bodyPr wrap="square" lIns="0" tIns="0" rIns="0" bIns="0" rtlCol="0" anchor="ctr"/>
          <a:lstStyle/>
          <a:p>
            <a:pPr indent="0" marL="0">
              <a:buNone/>
            </a:pPr>
            <a:r>
              <a:rPr lang="en-US" sz="1400" b="1" dirty="0">
                <a:solidFill>
                  <a:schemeClr val="tx1"/>
                </a:solidFill>
              </a:rPr>
              <a:t>Security tip</a:t>
            </a:r>
            <a:endParaRPr lang="en-US" sz="1400" dirty="0"/>
          </a:p>
          <a:p>
            <a:pPr indent="0" marL="0">
              <a:buNone/>
            </a:pPr>
            <a:r>
              <a:rPr lang="en-US" sz="1200" dirty="0">
                <a:solidFill>
                  <a:schemeClr val="tx1"/>
                </a:solidFill>
              </a:rPr>
              <a:t>Limit Grafana and Prometheus to your IP. Port 9100 needs no public access.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AWS CloudWatch</a:t>
            </a:r>
            <a:endParaRPr lang="en-US" sz="3400" dirty="0"/>
          </a:p>
        </p:txBody>
      </p:sp>
      <p:sp>
        <p:nvSpPr>
          <p:cNvPr id="3" name="Card"/>
          <p:cNvSpPr/>
          <p:nvPr/>
        </p:nvSpPr>
        <p:spPr>
          <a:xfrm>
            <a:off x="457200" y="1280160"/>
            <a:ext cx="2103120" cy="1554480"/>
          </a:xfrm>
          <a:prstGeom prst="roundRect">
            <a:avLst>
              <a:gd name="adj" fmla="val 588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4" name="Icon circle"/>
          <p:cNvSpPr/>
          <p:nvPr/>
        </p:nvSpPr>
        <p:spPr>
          <a:xfrm>
            <a:off x="640080" y="1463040"/>
            <a:ext cx="457200" cy="457200"/>
          </a:xfrm>
          <a:prstGeom prst="ellipse">
            <a:avLst/>
          </a:prstGeom>
          <a:solidFill>
            <a:schemeClr val="accent1"/>
          </a:solidFill>
          <a:ln w="12700">
            <a:solidFill>
              <a:schemeClr val="accent1"/>
            </a:solidFill>
            <a:prstDash val="solid"/>
          </a:ln>
        </p:spPr>
      </p:sp>
      <p:pic>
        <p:nvPicPr>
          <p:cNvPr id="5" name="Image 0" descr="FaMicrochip">    </p:cNvPr>
          <p:cNvPicPr>
            <a:picLocks noChangeAspect="1"/>
          </p:cNvPicPr>
          <p:nvPr/>
        </p:nvPicPr>
        <p:blipFill>
          <a:blip r:embed="rId1"/>
          <a:stretch>
            <a:fillRect/>
          </a:stretch>
        </p:blipFill>
        <p:spPr>
          <a:xfrm>
            <a:off x="754380" y="1577340"/>
            <a:ext cx="228600" cy="228600"/>
          </a:xfrm>
          <a:prstGeom prst="rect">
            <a:avLst/>
          </a:prstGeom>
        </p:spPr>
      </p:pic>
      <p:sp>
        <p:nvSpPr>
          <p:cNvPr id="6" name="Text 3"/>
          <p:cNvSpPr txBox="1"/>
          <p:nvPr/>
        </p:nvSpPr>
        <p:spPr>
          <a:xfrm>
            <a:off x="640080" y="2029968"/>
            <a:ext cx="1828800" cy="274320"/>
          </a:xfrm>
          <a:prstGeom prst="rect">
            <a:avLst/>
          </a:prstGeom>
          <a:noFill/>
          <a:ln/>
        </p:spPr>
        <p:txBody>
          <a:bodyPr wrap="square" lIns="0" tIns="0" rIns="0" bIns="0" rtlCol="0" anchor="t"/>
          <a:lstStyle/>
          <a:p>
            <a:pPr indent="0" marL="0">
              <a:buNone/>
            </a:pPr>
            <a:r>
              <a:rPr lang="en-US" sz="1400" b="1" dirty="0">
                <a:solidFill>
                  <a:schemeClr val="tx1"/>
                </a:solidFill>
              </a:rPr>
              <a:t>CPUUtilization</a:t>
            </a:r>
            <a:endParaRPr lang="en-US" sz="1400" dirty="0"/>
          </a:p>
        </p:txBody>
      </p:sp>
      <p:sp>
        <p:nvSpPr>
          <p:cNvPr id="7" name="Text 4"/>
          <p:cNvSpPr txBox="1"/>
          <p:nvPr/>
        </p:nvSpPr>
        <p:spPr>
          <a:xfrm>
            <a:off x="640080" y="2322576"/>
            <a:ext cx="1783080" cy="411480"/>
          </a:xfrm>
          <a:prstGeom prst="rect">
            <a:avLst/>
          </a:prstGeom>
          <a:noFill/>
          <a:ln/>
        </p:spPr>
        <p:txBody>
          <a:bodyPr wrap="square" lIns="0" tIns="0" rIns="0" bIns="0" rtlCol="0" anchor="t"/>
          <a:lstStyle/>
          <a:p>
            <a:pPr indent="0" marL="0">
              <a:buNone/>
            </a:pPr>
            <a:r>
              <a:rPr lang="en-US" sz="1200" dirty="0">
                <a:solidFill>
                  <a:schemeClr val="accent5"/>
                </a:solidFill>
              </a:rPr>
              <a:t>% of allocated CPU in use</a:t>
            </a:r>
            <a:endParaRPr lang="en-US" sz="1200" dirty="0"/>
          </a:p>
        </p:txBody>
      </p:sp>
      <p:sp>
        <p:nvSpPr>
          <p:cNvPr id="8" name="Card"/>
          <p:cNvSpPr/>
          <p:nvPr/>
        </p:nvSpPr>
        <p:spPr>
          <a:xfrm>
            <a:off x="2743200" y="1280160"/>
            <a:ext cx="2103120" cy="1554480"/>
          </a:xfrm>
          <a:prstGeom prst="roundRect">
            <a:avLst>
              <a:gd name="adj" fmla="val 588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9" name="Icon circle"/>
          <p:cNvSpPr/>
          <p:nvPr/>
        </p:nvSpPr>
        <p:spPr>
          <a:xfrm>
            <a:off x="2926080" y="1463040"/>
            <a:ext cx="457200" cy="457200"/>
          </a:xfrm>
          <a:prstGeom prst="ellipse">
            <a:avLst/>
          </a:prstGeom>
          <a:solidFill>
            <a:schemeClr val="accent2"/>
          </a:solidFill>
          <a:ln w="12700">
            <a:solidFill>
              <a:schemeClr val="accent2"/>
            </a:solidFill>
            <a:prstDash val="solid"/>
          </a:ln>
        </p:spPr>
      </p:sp>
      <p:pic>
        <p:nvPicPr>
          <p:cNvPr id="10" name="Image 1" descr="FaDownload">    </p:cNvPr>
          <p:cNvPicPr>
            <a:picLocks noChangeAspect="1"/>
          </p:cNvPicPr>
          <p:nvPr/>
        </p:nvPicPr>
        <p:blipFill>
          <a:blip r:embed="rId2"/>
          <a:stretch>
            <a:fillRect/>
          </a:stretch>
        </p:blipFill>
        <p:spPr>
          <a:xfrm>
            <a:off x="3040380" y="1577340"/>
            <a:ext cx="228600" cy="228600"/>
          </a:xfrm>
          <a:prstGeom prst="rect">
            <a:avLst/>
          </a:prstGeom>
        </p:spPr>
      </p:pic>
      <p:sp>
        <p:nvSpPr>
          <p:cNvPr id="11" name="Text 7"/>
          <p:cNvSpPr txBox="1"/>
          <p:nvPr/>
        </p:nvSpPr>
        <p:spPr>
          <a:xfrm>
            <a:off x="2926080" y="2029968"/>
            <a:ext cx="1828800" cy="274320"/>
          </a:xfrm>
          <a:prstGeom prst="rect">
            <a:avLst/>
          </a:prstGeom>
          <a:noFill/>
          <a:ln/>
        </p:spPr>
        <p:txBody>
          <a:bodyPr wrap="square" lIns="0" tIns="0" rIns="0" bIns="0" rtlCol="0" anchor="t"/>
          <a:lstStyle/>
          <a:p>
            <a:pPr indent="0" marL="0">
              <a:buNone/>
            </a:pPr>
            <a:r>
              <a:rPr lang="en-US" sz="1400" b="1" dirty="0">
                <a:solidFill>
                  <a:schemeClr val="tx1"/>
                </a:solidFill>
              </a:rPr>
              <a:t>NetworkIn</a:t>
            </a:r>
            <a:endParaRPr lang="en-US" sz="1400" dirty="0"/>
          </a:p>
        </p:txBody>
      </p:sp>
      <p:sp>
        <p:nvSpPr>
          <p:cNvPr id="12" name="Text 8"/>
          <p:cNvSpPr txBox="1"/>
          <p:nvPr/>
        </p:nvSpPr>
        <p:spPr>
          <a:xfrm>
            <a:off x="2926080" y="2322576"/>
            <a:ext cx="1783080" cy="411480"/>
          </a:xfrm>
          <a:prstGeom prst="rect">
            <a:avLst/>
          </a:prstGeom>
          <a:noFill/>
          <a:ln/>
        </p:spPr>
        <p:txBody>
          <a:bodyPr wrap="square" lIns="0" tIns="0" rIns="0" bIns="0" rtlCol="0" anchor="t"/>
          <a:lstStyle/>
          <a:p>
            <a:pPr indent="0" marL="0">
              <a:buNone/>
            </a:pPr>
            <a:r>
              <a:rPr lang="en-US" sz="1200" dirty="0">
                <a:solidFill>
                  <a:schemeClr val="accent5"/>
                </a:solidFill>
              </a:rPr>
              <a:t>Data received</a:t>
            </a:r>
            <a:endParaRPr lang="en-US" sz="1200" dirty="0"/>
          </a:p>
        </p:txBody>
      </p:sp>
      <p:sp>
        <p:nvSpPr>
          <p:cNvPr id="13" name="Card"/>
          <p:cNvSpPr/>
          <p:nvPr/>
        </p:nvSpPr>
        <p:spPr>
          <a:xfrm>
            <a:off x="457200" y="3017520"/>
            <a:ext cx="2103120" cy="1554480"/>
          </a:xfrm>
          <a:prstGeom prst="roundRect">
            <a:avLst>
              <a:gd name="adj" fmla="val 588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4" name="Icon circle"/>
          <p:cNvSpPr/>
          <p:nvPr/>
        </p:nvSpPr>
        <p:spPr>
          <a:xfrm>
            <a:off x="640080" y="3200400"/>
            <a:ext cx="457200" cy="457200"/>
          </a:xfrm>
          <a:prstGeom prst="ellipse">
            <a:avLst/>
          </a:prstGeom>
          <a:solidFill>
            <a:schemeClr val="accent4"/>
          </a:solidFill>
          <a:ln w="12700">
            <a:solidFill>
              <a:schemeClr val="accent4"/>
            </a:solidFill>
            <a:prstDash val="solid"/>
          </a:ln>
        </p:spPr>
      </p:sp>
      <p:pic>
        <p:nvPicPr>
          <p:cNvPr id="15" name="Image 2" descr="FaUpload">    </p:cNvPr>
          <p:cNvPicPr>
            <a:picLocks noChangeAspect="1"/>
          </p:cNvPicPr>
          <p:nvPr/>
        </p:nvPicPr>
        <p:blipFill>
          <a:blip r:embed="rId3"/>
          <a:stretch>
            <a:fillRect/>
          </a:stretch>
        </p:blipFill>
        <p:spPr>
          <a:xfrm>
            <a:off x="754380" y="3314700"/>
            <a:ext cx="228600" cy="228600"/>
          </a:xfrm>
          <a:prstGeom prst="rect">
            <a:avLst/>
          </a:prstGeom>
        </p:spPr>
      </p:pic>
      <p:sp>
        <p:nvSpPr>
          <p:cNvPr id="16" name="Text 11"/>
          <p:cNvSpPr txBox="1"/>
          <p:nvPr/>
        </p:nvSpPr>
        <p:spPr>
          <a:xfrm>
            <a:off x="640080" y="3767328"/>
            <a:ext cx="1828800" cy="274320"/>
          </a:xfrm>
          <a:prstGeom prst="rect">
            <a:avLst/>
          </a:prstGeom>
          <a:noFill/>
          <a:ln/>
        </p:spPr>
        <p:txBody>
          <a:bodyPr wrap="square" lIns="0" tIns="0" rIns="0" bIns="0" rtlCol="0" anchor="t"/>
          <a:lstStyle/>
          <a:p>
            <a:pPr indent="0" marL="0">
              <a:buNone/>
            </a:pPr>
            <a:r>
              <a:rPr lang="en-US" sz="1400" b="1" dirty="0">
                <a:solidFill>
                  <a:schemeClr val="tx1"/>
                </a:solidFill>
              </a:rPr>
              <a:t>NetworkOut</a:t>
            </a:r>
            <a:endParaRPr lang="en-US" sz="1400" dirty="0"/>
          </a:p>
        </p:txBody>
      </p:sp>
      <p:sp>
        <p:nvSpPr>
          <p:cNvPr id="17" name="Text 12"/>
          <p:cNvSpPr txBox="1"/>
          <p:nvPr/>
        </p:nvSpPr>
        <p:spPr>
          <a:xfrm>
            <a:off x="640080" y="4059936"/>
            <a:ext cx="1783080" cy="411480"/>
          </a:xfrm>
          <a:prstGeom prst="rect">
            <a:avLst/>
          </a:prstGeom>
          <a:noFill/>
          <a:ln/>
        </p:spPr>
        <p:txBody>
          <a:bodyPr wrap="square" lIns="0" tIns="0" rIns="0" bIns="0" rtlCol="0" anchor="t"/>
          <a:lstStyle/>
          <a:p>
            <a:pPr indent="0" marL="0">
              <a:buNone/>
            </a:pPr>
            <a:r>
              <a:rPr lang="en-US" sz="1200" dirty="0">
                <a:solidFill>
                  <a:schemeClr val="accent5"/>
                </a:solidFill>
              </a:rPr>
              <a:t>Data sent</a:t>
            </a:r>
            <a:endParaRPr lang="en-US" sz="1200" dirty="0"/>
          </a:p>
        </p:txBody>
      </p:sp>
      <p:sp>
        <p:nvSpPr>
          <p:cNvPr id="18" name="Card"/>
          <p:cNvSpPr/>
          <p:nvPr/>
        </p:nvSpPr>
        <p:spPr>
          <a:xfrm>
            <a:off x="2743200" y="3017520"/>
            <a:ext cx="2103120" cy="1554480"/>
          </a:xfrm>
          <a:prstGeom prst="roundRect">
            <a:avLst>
              <a:gd name="adj" fmla="val 588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9" name="Icon circle"/>
          <p:cNvSpPr/>
          <p:nvPr/>
        </p:nvSpPr>
        <p:spPr>
          <a:xfrm>
            <a:off x="2926080" y="3200400"/>
            <a:ext cx="457200" cy="457200"/>
          </a:xfrm>
          <a:prstGeom prst="ellipse">
            <a:avLst/>
          </a:prstGeom>
          <a:solidFill>
            <a:schemeClr val="accent1"/>
          </a:solidFill>
          <a:ln w="12700">
            <a:solidFill>
              <a:schemeClr val="accent1"/>
            </a:solidFill>
            <a:prstDash val="solid"/>
          </a:ln>
        </p:spPr>
      </p:sp>
      <p:pic>
        <p:nvPicPr>
          <p:cNvPr id="20" name="Image 3" descr="FaHeartbeat">    </p:cNvPr>
          <p:cNvPicPr>
            <a:picLocks noChangeAspect="1"/>
          </p:cNvPicPr>
          <p:nvPr/>
        </p:nvPicPr>
        <p:blipFill>
          <a:blip r:embed="rId4"/>
          <a:stretch>
            <a:fillRect/>
          </a:stretch>
        </p:blipFill>
        <p:spPr>
          <a:xfrm>
            <a:off x="3040380" y="3314700"/>
            <a:ext cx="228600" cy="228600"/>
          </a:xfrm>
          <a:prstGeom prst="rect">
            <a:avLst/>
          </a:prstGeom>
        </p:spPr>
      </p:pic>
      <p:sp>
        <p:nvSpPr>
          <p:cNvPr id="21" name="Text 15"/>
          <p:cNvSpPr txBox="1"/>
          <p:nvPr/>
        </p:nvSpPr>
        <p:spPr>
          <a:xfrm>
            <a:off x="2926080" y="3767328"/>
            <a:ext cx="1828800" cy="274320"/>
          </a:xfrm>
          <a:prstGeom prst="rect">
            <a:avLst/>
          </a:prstGeom>
          <a:noFill/>
          <a:ln/>
        </p:spPr>
        <p:txBody>
          <a:bodyPr wrap="square" lIns="0" tIns="0" rIns="0" bIns="0" rtlCol="0" anchor="t"/>
          <a:lstStyle/>
          <a:p>
            <a:pPr indent="0" marL="0">
              <a:buNone/>
            </a:pPr>
            <a:r>
              <a:rPr lang="en-US" sz="1400" b="1" dirty="0">
                <a:solidFill>
                  <a:schemeClr val="tx1"/>
                </a:solidFill>
              </a:rPr>
              <a:t>StatusCheckFailed</a:t>
            </a:r>
            <a:endParaRPr lang="en-US" sz="1400" dirty="0"/>
          </a:p>
        </p:txBody>
      </p:sp>
      <p:sp>
        <p:nvSpPr>
          <p:cNvPr id="22" name="Text 16"/>
          <p:cNvSpPr txBox="1"/>
          <p:nvPr/>
        </p:nvSpPr>
        <p:spPr>
          <a:xfrm>
            <a:off x="2926080" y="4059936"/>
            <a:ext cx="1783080" cy="411480"/>
          </a:xfrm>
          <a:prstGeom prst="rect">
            <a:avLst/>
          </a:prstGeom>
          <a:noFill/>
          <a:ln/>
        </p:spPr>
        <p:txBody>
          <a:bodyPr wrap="square" lIns="0" tIns="0" rIns="0" bIns="0" rtlCol="0" anchor="t"/>
          <a:lstStyle/>
          <a:p>
            <a:pPr indent="0" marL="0">
              <a:buNone/>
            </a:pPr>
            <a:r>
              <a:rPr lang="en-US" sz="1200" dirty="0">
                <a:solidFill>
                  <a:schemeClr val="accent5"/>
                </a:solidFill>
              </a:rPr>
              <a:t>EC2 status check failures</a:t>
            </a:r>
            <a:endParaRPr lang="en-US" sz="1200" dirty="0"/>
          </a:p>
        </p:txBody>
      </p:sp>
      <p:sp>
        <p:nvSpPr>
          <p:cNvPr id="23" name="Card"/>
          <p:cNvSpPr/>
          <p:nvPr/>
        </p:nvSpPr>
        <p:spPr>
          <a:xfrm>
            <a:off x="5120640" y="1280160"/>
            <a:ext cx="3566160" cy="3291840"/>
          </a:xfrm>
          <a:prstGeom prst="roundRect">
            <a:avLst>
              <a:gd name="adj" fmla="val 2778"/>
            </a:avLst>
          </a:prstGeom>
          <a:solidFill>
            <a:schemeClr val="tx1"/>
          </a:solidFill>
          <a:ln w="12700">
            <a:solidFill>
              <a:schemeClr val="tx1"/>
            </a:solidFill>
            <a:prstDash val="solid"/>
          </a:ln>
          <a:effectLst>
            <a:outerShdw sx="100000" sy="100000" kx="0" ky="0" algn="bl" rotWithShape="0" blurRad="76200" dist="25400" dir="5400000">
              <a:srgbClr val="000000">
                <a:alpha val="10000"/>
              </a:srgbClr>
            </a:outerShdw>
          </a:effectLst>
        </p:spPr>
      </p:sp>
      <p:sp>
        <p:nvSpPr>
          <p:cNvPr id="24" name="Icon circle"/>
          <p:cNvSpPr/>
          <p:nvPr/>
        </p:nvSpPr>
        <p:spPr>
          <a:xfrm>
            <a:off x="5349240" y="1508760"/>
            <a:ext cx="548640" cy="548640"/>
          </a:xfrm>
          <a:prstGeom prst="ellipse">
            <a:avLst/>
          </a:prstGeom>
          <a:solidFill>
            <a:schemeClr val="accent3"/>
          </a:solidFill>
          <a:ln w="12700">
            <a:solidFill>
              <a:schemeClr val="accent3"/>
            </a:solidFill>
            <a:prstDash val="solid"/>
          </a:ln>
        </p:spPr>
      </p:sp>
      <p:pic>
        <p:nvPicPr>
          <p:cNvPr id="25" name="Image 4" descr="FaCloud">    </p:cNvPr>
          <p:cNvPicPr>
            <a:picLocks noChangeAspect="1"/>
          </p:cNvPicPr>
          <p:nvPr/>
        </p:nvPicPr>
        <p:blipFill>
          <a:blip r:embed="rId5"/>
          <a:stretch>
            <a:fillRect/>
          </a:stretch>
        </p:blipFill>
        <p:spPr>
          <a:xfrm>
            <a:off x="5486400" y="1645920"/>
            <a:ext cx="274320" cy="274320"/>
          </a:xfrm>
          <a:prstGeom prst="rect">
            <a:avLst/>
          </a:prstGeom>
        </p:spPr>
      </p:pic>
      <p:sp>
        <p:nvSpPr>
          <p:cNvPr id="26" name="Text 19"/>
          <p:cNvSpPr txBox="1"/>
          <p:nvPr/>
        </p:nvSpPr>
        <p:spPr>
          <a:xfrm>
            <a:off x="6035040" y="1508760"/>
            <a:ext cx="2468880" cy="548640"/>
          </a:xfrm>
          <a:prstGeom prst="rect">
            <a:avLst/>
          </a:prstGeom>
          <a:noFill/>
          <a:ln/>
        </p:spPr>
        <p:txBody>
          <a:bodyPr wrap="square" lIns="0" tIns="0" rIns="0" bIns="0" rtlCol="0" anchor="ctr"/>
          <a:lstStyle/>
          <a:p>
            <a:pPr indent="0" marL="0">
              <a:buNone/>
            </a:pPr>
            <a:r>
              <a:rPr lang="en-US" sz="1800" b="1" dirty="0">
                <a:solidFill>
                  <a:schemeClr val="accent3"/>
                </a:solidFill>
              </a:rPr>
              <a:t>No CloudWatch Agent</a:t>
            </a:r>
            <a:endParaRPr lang="en-US" sz="1800" dirty="0"/>
          </a:p>
        </p:txBody>
      </p:sp>
      <p:sp>
        <p:nvSpPr>
          <p:cNvPr id="27" name="Text 20"/>
          <p:cNvSpPr txBox="1"/>
          <p:nvPr/>
        </p:nvSpPr>
        <p:spPr>
          <a:xfrm>
            <a:off x="5349240" y="2286000"/>
            <a:ext cx="3108960" cy="15544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Standard EC2 metrics are in the AWS/EC2 namespace.</a:t>
            </a:r>
            <a:endParaRPr lang="en-US" sz="1400" dirty="0"/>
          </a:p>
          <a:p>
            <a:pPr marL="342900" indent="-342900">
              <a:spcAft>
                <a:spcPts val="800"/>
              </a:spcAft>
              <a:buSzPct val="100000"/>
              <a:buChar char="•"/>
            </a:pPr>
            <a:r>
              <a:rPr lang="en-US" sz="1400" dirty="0">
                <a:solidFill>
                  <a:schemeClr val="bg1"/>
                </a:solidFill>
              </a:rPr>
              <a:t>OS-level metrics such as memory need the agent.</a:t>
            </a:r>
            <a:endParaRPr lang="en-US" sz="1400" dirty="0"/>
          </a:p>
          <a:p>
            <a:pPr marL="342900" indent="-342900">
              <a:buSzPct val="100000"/>
              <a:buChar char="•"/>
            </a:pPr>
            <a:r>
              <a:rPr lang="en-US" sz="1400" dirty="0">
                <a:solidFill>
                  <a:schemeClr val="bg1"/>
                </a:solidFill>
              </a:rPr>
              <a:t>We use Node Exporter + Prometheus instead.</a:t>
            </a:r>
            <a:endParaRPr lang="en-US" sz="1400" dirty="0"/>
          </a:p>
        </p:txBody>
      </p:sp>
      <p:sp>
        <p:nvSpPr>
          <p:cNvPr id="28" name="Text 21"/>
          <p:cNvSpPr txBox="1"/>
          <p:nvPr/>
        </p:nvSpPr>
        <p:spPr>
          <a:xfrm>
            <a:off x="5349240" y="3931920"/>
            <a:ext cx="3108960" cy="502920"/>
          </a:xfrm>
          <a:prstGeom prst="rect">
            <a:avLst/>
          </a:prstGeom>
          <a:noFill/>
          <a:ln/>
        </p:spPr>
        <p:txBody>
          <a:bodyPr wrap="square" lIns="0" tIns="0" rIns="0" bIns="0" rtlCol="0" anchor="t"/>
          <a:lstStyle/>
          <a:p>
            <a:pPr indent="0" marL="0">
              <a:buNone/>
            </a:pPr>
            <a:r>
              <a:rPr lang="en-US" sz="1200" dirty="0">
                <a:solidFill>
                  <a:schemeClr val="accent6"/>
                </a:solidFill>
              </a:rPr>
              <a:t>Console: CloudWatch → Metrics → All metrics → EC2 → Per-Instance</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Prometheus &amp; Node Exporter</a:t>
            </a:r>
            <a:endParaRPr lang="en-US" sz="3400" dirty="0"/>
          </a:p>
        </p:txBody>
      </p:sp>
      <p:sp>
        <p:nvSpPr>
          <p:cNvPr id="3" name="Card"/>
          <p:cNvSpPr/>
          <p:nvPr/>
        </p:nvSpPr>
        <p:spPr>
          <a:xfrm>
            <a:off x="457200" y="1280160"/>
            <a:ext cx="4023360" cy="2651760"/>
          </a:xfrm>
          <a:prstGeom prst="roundRect">
            <a:avLst>
              <a:gd name="adj" fmla="val 3448"/>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4" name="Port badge"/>
          <p:cNvSpPr/>
          <p:nvPr/>
        </p:nvSpPr>
        <p:spPr>
          <a:xfrm>
            <a:off x="685800" y="1508760"/>
            <a:ext cx="822960" cy="822960"/>
          </a:xfrm>
          <a:prstGeom prst="ellipse">
            <a:avLst/>
          </a:prstGeom>
          <a:solidFill>
            <a:schemeClr val="accent1"/>
          </a:solidFill>
          <a:ln w="12700">
            <a:solidFill>
              <a:schemeClr val="accent1"/>
            </a:solidFill>
            <a:prstDash val="solid"/>
          </a:ln>
        </p:spPr>
      </p:sp>
      <p:sp>
        <p:nvSpPr>
          <p:cNvPr id="5" name="Text 3"/>
          <p:cNvSpPr txBox="1"/>
          <p:nvPr/>
        </p:nvSpPr>
        <p:spPr>
          <a:xfrm>
            <a:off x="685800" y="1508760"/>
            <a:ext cx="822960" cy="822960"/>
          </a:xfrm>
          <a:prstGeom prst="rect">
            <a:avLst/>
          </a:prstGeom>
          <a:noFill/>
          <a:ln/>
        </p:spPr>
        <p:txBody>
          <a:bodyPr wrap="square" lIns="0" tIns="0" rIns="0" bIns="0" rtlCol="0" anchor="ctr"/>
          <a:lstStyle/>
          <a:p>
            <a:pPr algn="ctr" indent="0" marL="0">
              <a:buNone/>
            </a:pPr>
            <a:r>
              <a:rPr lang="en-US" sz="1600" b="1" dirty="0">
                <a:solidFill>
                  <a:schemeClr val="bg1"/>
                </a:solidFill>
              </a:rPr>
              <a:t>9090</a:t>
            </a:r>
            <a:endParaRPr lang="en-US" sz="1600" dirty="0"/>
          </a:p>
        </p:txBody>
      </p:sp>
      <p:sp>
        <p:nvSpPr>
          <p:cNvPr id="6" name="Text 4"/>
          <p:cNvSpPr txBox="1"/>
          <p:nvPr/>
        </p:nvSpPr>
        <p:spPr>
          <a:xfrm>
            <a:off x="1691640" y="1508760"/>
            <a:ext cx="2651760" cy="822960"/>
          </a:xfrm>
          <a:prstGeom prst="rect">
            <a:avLst/>
          </a:prstGeom>
          <a:noFill/>
          <a:ln/>
        </p:spPr>
        <p:txBody>
          <a:bodyPr wrap="square" lIns="0" tIns="0" rIns="0" bIns="0" rtlCol="0" anchor="ctr"/>
          <a:lstStyle/>
          <a:p>
            <a:pPr indent="0" marL="0">
              <a:buNone/>
            </a:pPr>
            <a:r>
              <a:rPr lang="en-US" sz="2200" b="1" dirty="0">
                <a:solidFill>
                  <a:schemeClr val="tx1"/>
                </a:solidFill>
              </a:rPr>
              <a:t>Prometheus</a:t>
            </a:r>
            <a:endParaRPr lang="en-US" sz="1400" dirty="0"/>
          </a:p>
          <a:p>
            <a:pPr indent="0" marL="0">
              <a:buNone/>
            </a:pPr>
            <a:r>
              <a:rPr lang="en-US" sz="1200" dirty="0">
                <a:solidFill>
                  <a:schemeClr val="accent5"/>
                </a:solidFill>
              </a:rPr>
              <a:t>default port 9090</a:t>
            </a:r>
            <a:endParaRPr lang="en-US" sz="1400" dirty="0"/>
          </a:p>
        </p:txBody>
      </p:sp>
      <p:sp>
        <p:nvSpPr>
          <p:cNvPr id="7" name="Text 5"/>
          <p:cNvSpPr txBox="1"/>
          <p:nvPr/>
        </p:nvSpPr>
        <p:spPr>
          <a:xfrm>
            <a:off x="731520" y="2560320"/>
            <a:ext cx="3566160" cy="1280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Scrapes targets over HTTP (pull model)</a:t>
            </a:r>
            <a:endParaRPr lang="en-US" sz="1400" dirty="0"/>
          </a:p>
          <a:p>
            <a:pPr marL="342900" indent="-342900">
              <a:spcAft>
                <a:spcPts val="800"/>
              </a:spcAft>
              <a:buSzPct val="100000"/>
              <a:buChar char="•"/>
            </a:pPr>
            <a:r>
              <a:rPr lang="en-US" sz="1400" dirty="0">
                <a:solidFill>
                  <a:schemeClr val="tx1"/>
                </a:solidFill>
              </a:rPr>
              <a:t>Stores time-series data</a:t>
            </a:r>
            <a:endParaRPr lang="en-US" sz="1400" dirty="0"/>
          </a:p>
          <a:p>
            <a:pPr marL="342900" indent="-342900">
              <a:spcAft>
                <a:spcPts val="800"/>
              </a:spcAft>
              <a:buSzPct val="100000"/>
              <a:buChar char="•"/>
            </a:pPr>
            <a:r>
              <a:rPr lang="en-US" sz="1400" dirty="0">
                <a:solidFill>
                  <a:schemeClr val="tx1"/>
                </a:solidFill>
              </a:rPr>
              <a:t>Queried with PromQL</a:t>
            </a:r>
            <a:endParaRPr lang="en-US" sz="1400" dirty="0"/>
          </a:p>
        </p:txBody>
      </p:sp>
      <p:sp>
        <p:nvSpPr>
          <p:cNvPr id="8" name="Card"/>
          <p:cNvSpPr/>
          <p:nvPr/>
        </p:nvSpPr>
        <p:spPr>
          <a:xfrm>
            <a:off x="4663440" y="1280160"/>
            <a:ext cx="4023360" cy="2651760"/>
          </a:xfrm>
          <a:prstGeom prst="roundRect">
            <a:avLst>
              <a:gd name="adj" fmla="val 3448"/>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9" name="Port badge"/>
          <p:cNvSpPr/>
          <p:nvPr/>
        </p:nvSpPr>
        <p:spPr>
          <a:xfrm>
            <a:off x="4892040" y="1508760"/>
            <a:ext cx="822960" cy="822960"/>
          </a:xfrm>
          <a:prstGeom prst="ellipse">
            <a:avLst/>
          </a:prstGeom>
          <a:solidFill>
            <a:schemeClr val="accent2"/>
          </a:solidFill>
          <a:ln w="12700">
            <a:solidFill>
              <a:schemeClr val="accent2"/>
            </a:solidFill>
            <a:prstDash val="solid"/>
          </a:ln>
        </p:spPr>
      </p:sp>
      <p:sp>
        <p:nvSpPr>
          <p:cNvPr id="10" name="Text 8"/>
          <p:cNvSpPr txBox="1"/>
          <p:nvPr/>
        </p:nvSpPr>
        <p:spPr>
          <a:xfrm>
            <a:off x="4892040" y="1508760"/>
            <a:ext cx="822960" cy="822960"/>
          </a:xfrm>
          <a:prstGeom prst="rect">
            <a:avLst/>
          </a:prstGeom>
          <a:noFill/>
          <a:ln/>
        </p:spPr>
        <p:txBody>
          <a:bodyPr wrap="square" lIns="0" tIns="0" rIns="0" bIns="0" rtlCol="0" anchor="ctr"/>
          <a:lstStyle/>
          <a:p>
            <a:pPr algn="ctr" indent="0" marL="0">
              <a:buNone/>
            </a:pPr>
            <a:r>
              <a:rPr lang="en-US" sz="1600" b="1" dirty="0">
                <a:solidFill>
                  <a:schemeClr val="bg1"/>
                </a:solidFill>
              </a:rPr>
              <a:t>9100</a:t>
            </a:r>
            <a:endParaRPr lang="en-US" sz="1600" dirty="0"/>
          </a:p>
        </p:txBody>
      </p:sp>
      <p:sp>
        <p:nvSpPr>
          <p:cNvPr id="11" name="Text 9"/>
          <p:cNvSpPr txBox="1"/>
          <p:nvPr/>
        </p:nvSpPr>
        <p:spPr>
          <a:xfrm>
            <a:off x="5897880" y="1508760"/>
            <a:ext cx="2651760" cy="822960"/>
          </a:xfrm>
          <a:prstGeom prst="rect">
            <a:avLst/>
          </a:prstGeom>
          <a:noFill/>
          <a:ln/>
        </p:spPr>
        <p:txBody>
          <a:bodyPr wrap="square" lIns="0" tIns="0" rIns="0" bIns="0" rtlCol="0" anchor="ctr"/>
          <a:lstStyle/>
          <a:p>
            <a:pPr indent="0" marL="0">
              <a:buNone/>
            </a:pPr>
            <a:r>
              <a:rPr lang="en-US" sz="2200" b="1" dirty="0">
                <a:solidFill>
                  <a:schemeClr val="tx1"/>
                </a:solidFill>
              </a:rPr>
              <a:t>Node Exporter</a:t>
            </a:r>
            <a:endParaRPr lang="en-US" sz="1400" dirty="0"/>
          </a:p>
          <a:p>
            <a:pPr indent="0" marL="0">
              <a:buNone/>
            </a:pPr>
            <a:r>
              <a:rPr lang="en-US" sz="1200" dirty="0">
                <a:solidFill>
                  <a:schemeClr val="accent5"/>
                </a:solidFill>
              </a:rPr>
              <a:t>default port 9100</a:t>
            </a:r>
            <a:endParaRPr lang="en-US" sz="1400" dirty="0"/>
          </a:p>
        </p:txBody>
      </p:sp>
      <p:sp>
        <p:nvSpPr>
          <p:cNvPr id="12" name="Text 10"/>
          <p:cNvSpPr txBox="1"/>
          <p:nvPr/>
        </p:nvSpPr>
        <p:spPr>
          <a:xfrm>
            <a:off x="4937760" y="2560320"/>
            <a:ext cx="3566160" cy="1280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Exposes Linux hardware &amp; OS metrics</a:t>
            </a:r>
            <a:endParaRPr lang="en-US" sz="1400" dirty="0"/>
          </a:p>
          <a:p>
            <a:pPr marL="342900" indent="-342900">
              <a:spcAft>
                <a:spcPts val="800"/>
              </a:spcAft>
              <a:buSzPct val="100000"/>
              <a:buChar char="•"/>
            </a:pPr>
            <a:r>
              <a:rPr lang="en-US" sz="1400" dirty="0">
                <a:solidFill>
                  <a:schemeClr val="tx1"/>
                </a:solidFill>
              </a:rPr>
              <a:t>CPU, memory, filesystem, network, load</a:t>
            </a:r>
            <a:endParaRPr lang="en-US" sz="1400" dirty="0"/>
          </a:p>
          <a:p>
            <a:pPr marL="342900" indent="-342900">
              <a:spcAft>
                <a:spcPts val="800"/>
              </a:spcAft>
              <a:buSzPct val="100000"/>
              <a:buChar char="•"/>
            </a:pPr>
            <a:r>
              <a:rPr lang="en-US" sz="1400" dirty="0">
                <a:solidFill>
                  <a:schemeClr val="tx1"/>
                </a:solidFill>
              </a:rPr>
              <a:t>Serves /metrics over HTTP</a:t>
            </a:r>
            <a:endParaRPr lang="en-US" sz="1400" dirty="0"/>
          </a:p>
        </p:txBody>
      </p:sp>
      <p:sp>
        <p:nvSpPr>
          <p:cNvPr id="13" name="Card"/>
          <p:cNvSpPr/>
          <p:nvPr/>
        </p:nvSpPr>
        <p:spPr>
          <a:xfrm>
            <a:off x="457200" y="4114800"/>
            <a:ext cx="8229600" cy="502920"/>
          </a:xfrm>
          <a:prstGeom prst="roundRect">
            <a:avLst>
              <a:gd name="adj" fmla="val 18182"/>
            </a:avLst>
          </a:prstGeom>
          <a:solidFill>
            <a:schemeClr val="tx1"/>
          </a:solidFill>
          <a:ln w="12700">
            <a:solidFill>
              <a:schemeClr val="tx1"/>
            </a:solidFill>
            <a:prstDash val="solid"/>
          </a:ln>
        </p:spPr>
      </p:sp>
      <p:sp>
        <p:nvSpPr>
          <p:cNvPr id="14" name="Text 12"/>
          <p:cNvSpPr txBox="1"/>
          <p:nvPr/>
        </p:nvSpPr>
        <p:spPr>
          <a:xfrm>
            <a:off x="640080" y="4114800"/>
            <a:ext cx="7863840" cy="502920"/>
          </a:xfrm>
          <a:prstGeom prst="rect">
            <a:avLst/>
          </a:prstGeom>
          <a:noFill/>
          <a:ln/>
        </p:spPr>
        <p:txBody>
          <a:bodyPr wrap="square" lIns="0" tIns="0" rIns="0" bIns="0" rtlCol="0" anchor="ctr"/>
          <a:lstStyle/>
          <a:p>
            <a:pPr indent="0" marL="0">
              <a:buNone/>
            </a:pPr>
            <a:r>
              <a:rPr lang="en-US" sz="1400" dirty="0">
                <a:solidFill>
                  <a:schemeClr val="bg1"/>
                </a:solidFill>
              </a:rPr>
              <a:t>Prometheus scrapes http://localhost:9100/metrics and stores it as time series.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Installation on Ubuntu</a:t>
            </a:r>
            <a:endParaRPr lang="en-US" sz="3400" dirty="0"/>
          </a:p>
        </p:txBody>
      </p:sp>
      <p:sp>
        <p:nvSpPr>
          <p:cNvPr id="3" name="Card"/>
          <p:cNvSpPr/>
          <p:nvPr/>
        </p:nvSpPr>
        <p:spPr>
          <a:xfrm>
            <a:off x="457200" y="1280160"/>
            <a:ext cx="5577840" cy="1005840"/>
          </a:xfrm>
          <a:prstGeom prst="roundRect">
            <a:avLst>
              <a:gd name="adj" fmla="val 9091"/>
            </a:avLst>
          </a:prstGeom>
          <a:solidFill>
            <a:schemeClr val="tx1"/>
          </a:solidFill>
          <a:ln w="12700">
            <a:solidFill>
              <a:schemeClr val="tx1"/>
            </a:solidFill>
            <a:prstDash val="solid"/>
          </a:ln>
          <a:effectLst>
            <a:outerShdw sx="100000" sy="100000" kx="0" ky="0" algn="bl" rotWithShape="0" blurRad="76200" dist="25400" dir="5400000">
              <a:srgbClr val="000000">
                <a:alpha val="10000"/>
              </a:srgbClr>
            </a:outerShdw>
          </a:effectLst>
        </p:spPr>
      </p:sp>
      <p:sp>
        <p:nvSpPr>
          <p:cNvPr id="4" name="Text 2"/>
          <p:cNvSpPr txBox="1"/>
          <p:nvPr/>
        </p:nvSpPr>
        <p:spPr>
          <a:xfrm>
            <a:off x="640080" y="1371600"/>
            <a:ext cx="5212080" cy="256032"/>
          </a:xfrm>
          <a:prstGeom prst="rect">
            <a:avLst/>
          </a:prstGeom>
          <a:noFill/>
          <a:ln/>
        </p:spPr>
        <p:txBody>
          <a:bodyPr wrap="square" lIns="0" tIns="0" rIns="0" bIns="0" rtlCol="0" anchor="t"/>
          <a:lstStyle/>
          <a:p>
            <a:pPr indent="0" marL="0">
              <a:buNone/>
            </a:pPr>
            <a:r>
              <a:rPr lang="en-US" sz="1200" b="1" dirty="0">
                <a:solidFill>
                  <a:schemeClr val="accent3"/>
                </a:solidFill>
              </a:rPr>
              <a:t>STEP 1  ·  Update the system</a:t>
            </a:r>
            <a:endParaRPr lang="en-US" sz="1200" dirty="0"/>
          </a:p>
        </p:txBody>
      </p:sp>
      <p:sp>
        <p:nvSpPr>
          <p:cNvPr id="5" name="Text 3"/>
          <p:cNvSpPr txBox="1"/>
          <p:nvPr/>
        </p:nvSpPr>
        <p:spPr>
          <a:xfrm>
            <a:off x="640080" y="1645920"/>
            <a:ext cx="5257800" cy="548640"/>
          </a:xfrm>
          <a:prstGeom prst="rect">
            <a:avLst/>
          </a:prstGeom>
          <a:noFill/>
          <a:ln/>
        </p:spPr>
        <p:txBody>
          <a:bodyPr wrap="square" lIns="0" tIns="0" rIns="0" bIns="0" rtlCol="0" anchor="ctr"/>
          <a:lstStyle/>
          <a:p>
            <a:pPr indent="0" marL="0">
              <a:buNone/>
            </a:pPr>
            <a:r>
              <a:rPr lang="en-US" sz="1000" dirty="0">
                <a:solidFill>
                  <a:schemeClr val="accent6"/>
                </a:solidFill>
                <a:latin typeface="Courier New" pitchFamily="34" charset="0"/>
                <a:ea typeface="Courier New" pitchFamily="34" charset="-122"/>
                <a:cs typeface="Courier New" pitchFamily="34" charset="-120"/>
              </a:rPr>
              <a:t>sudo apt update</a:t>
            </a:r>
            <a:endParaRPr lang="en-US" sz="1000" dirty="0"/>
          </a:p>
          <a:p>
            <a:pPr indent="0" marL="0">
              <a:buNone/>
            </a:pPr>
            <a:r>
              <a:rPr lang="en-US" sz="1000" dirty="0">
                <a:solidFill>
                  <a:schemeClr val="accent6"/>
                </a:solidFill>
                <a:latin typeface="Courier New" pitchFamily="34" charset="0"/>
                <a:ea typeface="Courier New" pitchFamily="34" charset="-122"/>
                <a:cs typeface="Courier New" pitchFamily="34" charset="-120"/>
              </a:rPr>
              <a:t>sudo apt upgrade -y</a:t>
            </a:r>
            <a:endParaRPr lang="en-US" sz="1000" dirty="0"/>
          </a:p>
        </p:txBody>
      </p:sp>
      <p:sp>
        <p:nvSpPr>
          <p:cNvPr id="6" name="Card"/>
          <p:cNvSpPr/>
          <p:nvPr/>
        </p:nvSpPr>
        <p:spPr>
          <a:xfrm>
            <a:off x="457200" y="2423160"/>
            <a:ext cx="5577840" cy="1005840"/>
          </a:xfrm>
          <a:prstGeom prst="roundRect">
            <a:avLst>
              <a:gd name="adj" fmla="val 9091"/>
            </a:avLst>
          </a:prstGeom>
          <a:solidFill>
            <a:schemeClr val="tx1"/>
          </a:solidFill>
          <a:ln w="12700">
            <a:solidFill>
              <a:schemeClr val="tx1"/>
            </a:solidFill>
            <a:prstDash val="solid"/>
          </a:ln>
          <a:effectLst>
            <a:outerShdw sx="100000" sy="100000" kx="0" ky="0" algn="bl" rotWithShape="0" blurRad="76200" dist="25400" dir="5400000">
              <a:srgbClr val="000000">
                <a:alpha val="10000"/>
              </a:srgbClr>
            </a:outerShdw>
          </a:effectLst>
        </p:spPr>
      </p:sp>
      <p:sp>
        <p:nvSpPr>
          <p:cNvPr id="7" name="Text 5"/>
          <p:cNvSpPr txBox="1"/>
          <p:nvPr/>
        </p:nvSpPr>
        <p:spPr>
          <a:xfrm>
            <a:off x="640080" y="2514600"/>
            <a:ext cx="5212080" cy="256032"/>
          </a:xfrm>
          <a:prstGeom prst="rect">
            <a:avLst/>
          </a:prstGeom>
          <a:noFill/>
          <a:ln/>
        </p:spPr>
        <p:txBody>
          <a:bodyPr wrap="square" lIns="0" tIns="0" rIns="0" bIns="0" rtlCol="0" anchor="t"/>
          <a:lstStyle/>
          <a:p>
            <a:pPr indent="0" marL="0">
              <a:buNone/>
            </a:pPr>
            <a:r>
              <a:rPr lang="en-US" sz="1200" b="1" dirty="0">
                <a:solidFill>
                  <a:schemeClr val="accent3"/>
                </a:solidFill>
              </a:rPr>
              <a:t>STEP 2  ·  Install packages</a:t>
            </a:r>
            <a:endParaRPr lang="en-US" sz="1200" dirty="0"/>
          </a:p>
        </p:txBody>
      </p:sp>
      <p:sp>
        <p:nvSpPr>
          <p:cNvPr id="8" name="Text 6"/>
          <p:cNvSpPr txBox="1"/>
          <p:nvPr/>
        </p:nvSpPr>
        <p:spPr>
          <a:xfrm>
            <a:off x="640080" y="2788920"/>
            <a:ext cx="5257800" cy="548640"/>
          </a:xfrm>
          <a:prstGeom prst="rect">
            <a:avLst/>
          </a:prstGeom>
          <a:noFill/>
          <a:ln/>
        </p:spPr>
        <p:txBody>
          <a:bodyPr wrap="square" lIns="0" tIns="0" rIns="0" bIns="0" rtlCol="0" anchor="ctr"/>
          <a:lstStyle/>
          <a:p>
            <a:pPr indent="0" marL="0">
              <a:buNone/>
            </a:pPr>
            <a:r>
              <a:rPr lang="en-US" sz="1000" dirty="0">
                <a:solidFill>
                  <a:schemeClr val="accent6"/>
                </a:solidFill>
                <a:latin typeface="Courier New" pitchFamily="34" charset="0"/>
                <a:ea typeface="Courier New" pitchFamily="34" charset="-122"/>
                <a:cs typeface="Courier New" pitchFamily="34" charset="-120"/>
              </a:rPr>
              <a:t>sudo apt install prometheus prometheus-node-exporter -y</a:t>
            </a:r>
            <a:endParaRPr lang="en-US" sz="1000" dirty="0"/>
          </a:p>
        </p:txBody>
      </p:sp>
      <p:sp>
        <p:nvSpPr>
          <p:cNvPr id="9" name="Card"/>
          <p:cNvSpPr/>
          <p:nvPr/>
        </p:nvSpPr>
        <p:spPr>
          <a:xfrm>
            <a:off x="457200" y="3566160"/>
            <a:ext cx="5577840" cy="1005840"/>
          </a:xfrm>
          <a:prstGeom prst="roundRect">
            <a:avLst>
              <a:gd name="adj" fmla="val 9091"/>
            </a:avLst>
          </a:prstGeom>
          <a:solidFill>
            <a:schemeClr val="tx1"/>
          </a:solidFill>
          <a:ln w="12700">
            <a:solidFill>
              <a:schemeClr val="tx1"/>
            </a:solidFill>
            <a:prstDash val="solid"/>
          </a:ln>
          <a:effectLst>
            <a:outerShdw sx="100000" sy="100000" kx="0" ky="0" algn="bl" rotWithShape="0" blurRad="76200" dist="25400" dir="5400000">
              <a:srgbClr val="000000">
                <a:alpha val="10000"/>
              </a:srgbClr>
            </a:outerShdw>
          </a:effectLst>
        </p:spPr>
      </p:sp>
      <p:sp>
        <p:nvSpPr>
          <p:cNvPr id="10" name="Text 8"/>
          <p:cNvSpPr txBox="1"/>
          <p:nvPr/>
        </p:nvSpPr>
        <p:spPr>
          <a:xfrm>
            <a:off x="640080" y="3657600"/>
            <a:ext cx="5212080" cy="256032"/>
          </a:xfrm>
          <a:prstGeom prst="rect">
            <a:avLst/>
          </a:prstGeom>
          <a:noFill/>
          <a:ln/>
        </p:spPr>
        <p:txBody>
          <a:bodyPr wrap="square" lIns="0" tIns="0" rIns="0" bIns="0" rtlCol="0" anchor="t"/>
          <a:lstStyle/>
          <a:p>
            <a:pPr indent="0" marL="0">
              <a:buNone/>
            </a:pPr>
            <a:r>
              <a:rPr lang="en-US" sz="1200" b="1" dirty="0">
                <a:solidFill>
                  <a:schemeClr val="accent3"/>
                </a:solidFill>
              </a:rPr>
              <a:t>STEP 3  ·  Enable and start services</a:t>
            </a:r>
            <a:endParaRPr lang="en-US" sz="1200" dirty="0"/>
          </a:p>
        </p:txBody>
      </p:sp>
      <p:sp>
        <p:nvSpPr>
          <p:cNvPr id="11" name="Text 9"/>
          <p:cNvSpPr txBox="1"/>
          <p:nvPr/>
        </p:nvSpPr>
        <p:spPr>
          <a:xfrm>
            <a:off x="640080" y="3931920"/>
            <a:ext cx="5257800" cy="548640"/>
          </a:xfrm>
          <a:prstGeom prst="rect">
            <a:avLst/>
          </a:prstGeom>
          <a:noFill/>
          <a:ln/>
        </p:spPr>
        <p:txBody>
          <a:bodyPr wrap="square" lIns="0" tIns="0" rIns="0" bIns="0" rtlCol="0" anchor="ctr"/>
          <a:lstStyle/>
          <a:p>
            <a:pPr indent="0" marL="0">
              <a:buNone/>
            </a:pPr>
            <a:r>
              <a:rPr lang="en-US" sz="1000" dirty="0">
                <a:solidFill>
                  <a:schemeClr val="accent6"/>
                </a:solidFill>
                <a:latin typeface="Courier New" pitchFamily="34" charset="0"/>
                <a:ea typeface="Courier New" pitchFamily="34" charset="-122"/>
                <a:cs typeface="Courier New" pitchFamily="34" charset="-120"/>
              </a:rPr>
              <a:t>sudo systemctl enable --now prometheus prometheus-node-exporter</a:t>
            </a:r>
            <a:endParaRPr lang="en-US" sz="1000" dirty="0"/>
          </a:p>
        </p:txBody>
      </p:sp>
      <p:sp>
        <p:nvSpPr>
          <p:cNvPr id="12" name="Card"/>
          <p:cNvSpPr/>
          <p:nvPr/>
        </p:nvSpPr>
        <p:spPr>
          <a:xfrm>
            <a:off x="6309360" y="1280160"/>
            <a:ext cx="2377440" cy="3291840"/>
          </a:xfrm>
          <a:prstGeom prst="roundRect">
            <a:avLst>
              <a:gd name="adj" fmla="val 3846"/>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3" name="Text 11"/>
          <p:cNvSpPr txBox="1"/>
          <p:nvPr/>
        </p:nvSpPr>
        <p:spPr>
          <a:xfrm>
            <a:off x="6492240" y="1417320"/>
            <a:ext cx="2011680" cy="365760"/>
          </a:xfrm>
          <a:prstGeom prst="rect">
            <a:avLst/>
          </a:prstGeom>
          <a:noFill/>
          <a:ln/>
        </p:spPr>
        <p:txBody>
          <a:bodyPr wrap="square" lIns="0" tIns="0" rIns="0" bIns="0" rtlCol="0" anchor="t"/>
          <a:lstStyle/>
          <a:p>
            <a:pPr indent="0" marL="0">
              <a:buNone/>
            </a:pPr>
            <a:r>
              <a:rPr lang="en-US" sz="1800" b="1" dirty="0">
                <a:solidFill>
                  <a:schemeClr val="tx1"/>
                </a:solidFill>
              </a:rPr>
              <a:t>Verify</a:t>
            </a:r>
            <a:endParaRPr lang="en-US" sz="1800" dirty="0"/>
          </a:p>
        </p:txBody>
      </p:sp>
      <p:sp>
        <p:nvSpPr>
          <p:cNvPr id="14" name="Icon circle"/>
          <p:cNvSpPr/>
          <p:nvPr/>
        </p:nvSpPr>
        <p:spPr>
          <a:xfrm>
            <a:off x="6492240" y="2011680"/>
            <a:ext cx="365760" cy="365760"/>
          </a:xfrm>
          <a:prstGeom prst="ellipse">
            <a:avLst/>
          </a:prstGeom>
          <a:solidFill>
            <a:schemeClr val="accent2"/>
          </a:solidFill>
          <a:ln w="12700">
            <a:solidFill>
              <a:schemeClr val="accent2"/>
            </a:solidFill>
            <a:prstDash val="solid"/>
          </a:ln>
        </p:spPr>
      </p:sp>
      <p:pic>
        <p:nvPicPr>
          <p:cNvPr id="15" name="Image 0" descr="FaCheck">    </p:cNvPr>
          <p:cNvPicPr>
            <a:picLocks noChangeAspect="1"/>
          </p:cNvPicPr>
          <p:nvPr/>
        </p:nvPicPr>
        <p:blipFill>
          <a:blip r:embed="rId1"/>
          <a:stretch>
            <a:fillRect/>
          </a:stretch>
        </p:blipFill>
        <p:spPr>
          <a:xfrm>
            <a:off x="6583680" y="2103120"/>
            <a:ext cx="182880" cy="182880"/>
          </a:xfrm>
          <a:prstGeom prst="rect">
            <a:avLst/>
          </a:prstGeom>
        </p:spPr>
      </p:pic>
      <p:sp>
        <p:nvSpPr>
          <p:cNvPr id="16" name="Text 13"/>
          <p:cNvSpPr txBox="1"/>
          <p:nvPr/>
        </p:nvSpPr>
        <p:spPr>
          <a:xfrm>
            <a:off x="6995160" y="1920240"/>
            <a:ext cx="1554480" cy="731520"/>
          </a:xfrm>
          <a:prstGeom prst="rect">
            <a:avLst/>
          </a:prstGeom>
          <a:noFill/>
          <a:ln/>
        </p:spPr>
        <p:txBody>
          <a:bodyPr wrap="square" lIns="0" tIns="0" rIns="0" bIns="0" rtlCol="0" anchor="ctr"/>
          <a:lstStyle/>
          <a:p>
            <a:pPr indent="0" marL="0">
              <a:buNone/>
            </a:pPr>
            <a:r>
              <a:rPr lang="en-US" sz="1400" dirty="0">
                <a:solidFill>
                  <a:schemeClr val="tx1"/>
                </a:solidFill>
              </a:rPr>
              <a:t>Services show active (running)</a:t>
            </a:r>
            <a:endParaRPr lang="en-US" sz="1400" dirty="0"/>
          </a:p>
        </p:txBody>
      </p:sp>
      <p:sp>
        <p:nvSpPr>
          <p:cNvPr id="17" name="Icon circle"/>
          <p:cNvSpPr/>
          <p:nvPr/>
        </p:nvSpPr>
        <p:spPr>
          <a:xfrm>
            <a:off x="6492240" y="2880360"/>
            <a:ext cx="365760" cy="365760"/>
          </a:xfrm>
          <a:prstGeom prst="ellipse">
            <a:avLst/>
          </a:prstGeom>
          <a:solidFill>
            <a:schemeClr val="accent2"/>
          </a:solidFill>
          <a:ln w="12700">
            <a:solidFill>
              <a:schemeClr val="accent2"/>
            </a:solidFill>
            <a:prstDash val="solid"/>
          </a:ln>
        </p:spPr>
      </p:sp>
      <p:pic>
        <p:nvPicPr>
          <p:cNvPr id="18" name="Image 1" descr="FaCheck">    </p:cNvPr>
          <p:cNvPicPr>
            <a:picLocks noChangeAspect="1"/>
          </p:cNvPicPr>
          <p:nvPr/>
        </p:nvPicPr>
        <p:blipFill>
          <a:blip r:embed="rId2"/>
          <a:stretch>
            <a:fillRect/>
          </a:stretch>
        </p:blipFill>
        <p:spPr>
          <a:xfrm>
            <a:off x="6583680" y="2971800"/>
            <a:ext cx="182880" cy="182880"/>
          </a:xfrm>
          <a:prstGeom prst="rect">
            <a:avLst/>
          </a:prstGeom>
        </p:spPr>
      </p:pic>
      <p:sp>
        <p:nvSpPr>
          <p:cNvPr id="19" name="Text 15"/>
          <p:cNvSpPr txBox="1"/>
          <p:nvPr/>
        </p:nvSpPr>
        <p:spPr>
          <a:xfrm>
            <a:off x="6995160" y="2788920"/>
            <a:ext cx="1554480" cy="731520"/>
          </a:xfrm>
          <a:prstGeom prst="rect">
            <a:avLst/>
          </a:prstGeom>
          <a:noFill/>
          <a:ln/>
        </p:spPr>
        <p:txBody>
          <a:bodyPr wrap="square" lIns="0" tIns="0" rIns="0" bIns="0" rtlCol="0" anchor="ctr"/>
          <a:lstStyle/>
          <a:p>
            <a:pPr indent="0" marL="0">
              <a:buNone/>
            </a:pPr>
            <a:r>
              <a:rPr lang="en-US" sz="1400" dirty="0">
                <a:solidFill>
                  <a:schemeClr val="tx1"/>
                </a:solidFill>
              </a:rPr>
              <a:t>Open :9090 → Status → Targets</a:t>
            </a:r>
            <a:endParaRPr lang="en-US" sz="1400" dirty="0"/>
          </a:p>
        </p:txBody>
      </p:sp>
      <p:sp>
        <p:nvSpPr>
          <p:cNvPr id="20" name="Icon circle"/>
          <p:cNvSpPr/>
          <p:nvPr/>
        </p:nvSpPr>
        <p:spPr>
          <a:xfrm>
            <a:off x="6492240" y="3749040"/>
            <a:ext cx="365760" cy="365760"/>
          </a:xfrm>
          <a:prstGeom prst="ellipse">
            <a:avLst/>
          </a:prstGeom>
          <a:solidFill>
            <a:schemeClr val="accent2"/>
          </a:solidFill>
          <a:ln w="12700">
            <a:solidFill>
              <a:schemeClr val="accent2"/>
            </a:solidFill>
            <a:prstDash val="solid"/>
          </a:ln>
        </p:spPr>
      </p:sp>
      <p:pic>
        <p:nvPicPr>
          <p:cNvPr id="21" name="Image 2" descr="FaCheck">    </p:cNvPr>
          <p:cNvPicPr>
            <a:picLocks noChangeAspect="1"/>
          </p:cNvPicPr>
          <p:nvPr/>
        </p:nvPicPr>
        <p:blipFill>
          <a:blip r:embed="rId3"/>
          <a:stretch>
            <a:fillRect/>
          </a:stretch>
        </p:blipFill>
        <p:spPr>
          <a:xfrm>
            <a:off x="6583680" y="3840480"/>
            <a:ext cx="182880" cy="182880"/>
          </a:xfrm>
          <a:prstGeom prst="rect">
            <a:avLst/>
          </a:prstGeom>
        </p:spPr>
      </p:pic>
      <p:sp>
        <p:nvSpPr>
          <p:cNvPr id="22" name="Text 17"/>
          <p:cNvSpPr txBox="1"/>
          <p:nvPr/>
        </p:nvSpPr>
        <p:spPr>
          <a:xfrm>
            <a:off x="6995160" y="3657600"/>
            <a:ext cx="1554480" cy="731520"/>
          </a:xfrm>
          <a:prstGeom prst="rect">
            <a:avLst/>
          </a:prstGeom>
          <a:noFill/>
          <a:ln/>
        </p:spPr>
        <p:txBody>
          <a:bodyPr wrap="square" lIns="0" tIns="0" rIns="0" bIns="0" rtlCol="0" anchor="ctr"/>
          <a:lstStyle/>
          <a:p>
            <a:pPr indent="0" marL="0">
              <a:buNone/>
            </a:pPr>
            <a:r>
              <a:rPr lang="en-US" sz="1400" dirty="0">
                <a:solidFill>
                  <a:schemeClr val="tx1"/>
                </a:solidFill>
              </a:rPr>
              <a:t>Targets show UP</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Grafana Setup</a:t>
            </a:r>
            <a:endParaRPr lang="en-US" sz="3400" dirty="0"/>
          </a:p>
        </p:txBody>
      </p:sp>
      <p:sp>
        <p:nvSpPr>
          <p:cNvPr id="3" name="Card"/>
          <p:cNvSpPr/>
          <p:nvPr/>
        </p:nvSpPr>
        <p:spPr>
          <a:xfrm>
            <a:off x="457200" y="1280160"/>
            <a:ext cx="1536192" cy="2377440"/>
          </a:xfrm>
          <a:prstGeom prst="roundRect">
            <a:avLst>
              <a:gd name="adj" fmla="val 595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4" name="Number badge"/>
          <p:cNvSpPr/>
          <p:nvPr/>
        </p:nvSpPr>
        <p:spPr>
          <a:xfrm>
            <a:off x="594360" y="1417320"/>
            <a:ext cx="457200" cy="457200"/>
          </a:xfrm>
          <a:prstGeom prst="ellipse">
            <a:avLst/>
          </a:prstGeom>
          <a:solidFill>
            <a:schemeClr val="accent4"/>
          </a:solidFill>
          <a:ln w="12700">
            <a:solidFill>
              <a:schemeClr val="accent4"/>
            </a:solidFill>
            <a:prstDash val="solid"/>
          </a:ln>
        </p:spPr>
      </p:sp>
      <p:sp>
        <p:nvSpPr>
          <p:cNvPr id="5" name="Text 3"/>
          <p:cNvSpPr txBox="1"/>
          <p:nvPr/>
        </p:nvSpPr>
        <p:spPr>
          <a:xfrm>
            <a:off x="594360" y="14173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
          <p:cNvSpPr txBox="1"/>
          <p:nvPr/>
        </p:nvSpPr>
        <p:spPr>
          <a:xfrm>
            <a:off x="594360" y="2011680"/>
            <a:ext cx="1280160" cy="274320"/>
          </a:xfrm>
          <a:prstGeom prst="rect">
            <a:avLst/>
          </a:prstGeom>
          <a:noFill/>
          <a:ln/>
        </p:spPr>
        <p:txBody>
          <a:bodyPr wrap="square" lIns="0" tIns="0" rIns="0" bIns="0" rtlCol="0" anchor="t"/>
          <a:lstStyle/>
          <a:p>
            <a:pPr indent="0" marL="0">
              <a:buNone/>
            </a:pPr>
            <a:r>
              <a:rPr lang="en-US" sz="1500" b="1" dirty="0">
                <a:solidFill>
                  <a:schemeClr val="tx1"/>
                </a:solidFill>
              </a:rPr>
              <a:t>Install</a:t>
            </a:r>
            <a:endParaRPr lang="en-US" sz="1500" dirty="0"/>
          </a:p>
        </p:txBody>
      </p:sp>
      <p:sp>
        <p:nvSpPr>
          <p:cNvPr id="7" name="Text 5"/>
          <p:cNvSpPr txBox="1"/>
          <p:nvPr/>
        </p:nvSpPr>
        <p:spPr>
          <a:xfrm>
            <a:off x="594360" y="2331720"/>
            <a:ext cx="1280160" cy="1234440"/>
          </a:xfrm>
          <a:prstGeom prst="rect">
            <a:avLst/>
          </a:prstGeom>
          <a:noFill/>
          <a:ln/>
        </p:spPr>
        <p:txBody>
          <a:bodyPr wrap="square" lIns="0" tIns="0" rIns="0" bIns="0" rtlCol="0" anchor="t"/>
          <a:lstStyle/>
          <a:p>
            <a:pPr indent="0" marL="0">
              <a:buNone/>
            </a:pPr>
            <a:r>
              <a:rPr lang="en-US" sz="1200" dirty="0">
                <a:solidFill>
                  <a:schemeClr val="accent5"/>
                </a:solidFill>
              </a:rPr>
              <a:t>Add the official Grafana repo and install the package</a:t>
            </a:r>
            <a:endParaRPr lang="en-US" sz="1200" dirty="0"/>
          </a:p>
        </p:txBody>
      </p:sp>
      <p:sp>
        <p:nvSpPr>
          <p:cNvPr id="8" name="Card"/>
          <p:cNvSpPr/>
          <p:nvPr/>
        </p:nvSpPr>
        <p:spPr>
          <a:xfrm>
            <a:off x="2130552" y="1280160"/>
            <a:ext cx="1536192" cy="2377440"/>
          </a:xfrm>
          <a:prstGeom prst="roundRect">
            <a:avLst>
              <a:gd name="adj" fmla="val 595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9" name="Number badge"/>
          <p:cNvSpPr/>
          <p:nvPr/>
        </p:nvSpPr>
        <p:spPr>
          <a:xfrm>
            <a:off x="2267712" y="1417320"/>
            <a:ext cx="457200" cy="457200"/>
          </a:xfrm>
          <a:prstGeom prst="ellipse">
            <a:avLst/>
          </a:prstGeom>
          <a:solidFill>
            <a:schemeClr val="accent4"/>
          </a:solidFill>
          <a:ln w="12700">
            <a:solidFill>
              <a:schemeClr val="accent4"/>
            </a:solidFill>
            <a:prstDash val="solid"/>
          </a:ln>
        </p:spPr>
      </p:sp>
      <p:sp>
        <p:nvSpPr>
          <p:cNvPr id="10" name="Text 8"/>
          <p:cNvSpPr txBox="1"/>
          <p:nvPr/>
        </p:nvSpPr>
        <p:spPr>
          <a:xfrm>
            <a:off x="2267712" y="14173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9"/>
          <p:cNvSpPr txBox="1"/>
          <p:nvPr/>
        </p:nvSpPr>
        <p:spPr>
          <a:xfrm>
            <a:off x="2267712" y="2011680"/>
            <a:ext cx="1280160" cy="274320"/>
          </a:xfrm>
          <a:prstGeom prst="rect">
            <a:avLst/>
          </a:prstGeom>
          <a:noFill/>
          <a:ln/>
        </p:spPr>
        <p:txBody>
          <a:bodyPr wrap="square" lIns="0" tIns="0" rIns="0" bIns="0" rtlCol="0" anchor="t"/>
          <a:lstStyle/>
          <a:p>
            <a:pPr indent="0" marL="0">
              <a:buNone/>
            </a:pPr>
            <a:r>
              <a:rPr lang="en-US" sz="1500" b="1" dirty="0">
                <a:solidFill>
                  <a:schemeClr val="tx1"/>
                </a:solidFill>
              </a:rPr>
              <a:t>Start</a:t>
            </a:r>
            <a:endParaRPr lang="en-US" sz="1500" dirty="0"/>
          </a:p>
        </p:txBody>
      </p:sp>
      <p:sp>
        <p:nvSpPr>
          <p:cNvPr id="12" name="Text 10"/>
          <p:cNvSpPr txBox="1"/>
          <p:nvPr/>
        </p:nvSpPr>
        <p:spPr>
          <a:xfrm>
            <a:off x="2267712" y="2331720"/>
            <a:ext cx="1280160" cy="1234440"/>
          </a:xfrm>
          <a:prstGeom prst="rect">
            <a:avLst/>
          </a:prstGeom>
          <a:noFill/>
          <a:ln/>
        </p:spPr>
        <p:txBody>
          <a:bodyPr wrap="square" lIns="0" tIns="0" rIns="0" bIns="0" rtlCol="0" anchor="t"/>
          <a:lstStyle/>
          <a:p>
            <a:pPr indent="0" marL="0">
              <a:buNone/>
            </a:pPr>
            <a:r>
              <a:rPr lang="en-US" sz="1200" dirty="0">
                <a:solidFill>
                  <a:schemeClr val="accent5"/>
                </a:solidFill>
              </a:rPr>
              <a:t>sudo systemctl enable --now grafana-server</a:t>
            </a:r>
            <a:endParaRPr lang="en-US" sz="1200" dirty="0"/>
          </a:p>
        </p:txBody>
      </p:sp>
      <p:sp>
        <p:nvSpPr>
          <p:cNvPr id="13" name="Card"/>
          <p:cNvSpPr/>
          <p:nvPr/>
        </p:nvSpPr>
        <p:spPr>
          <a:xfrm>
            <a:off x="3803904" y="1280160"/>
            <a:ext cx="1536192" cy="2377440"/>
          </a:xfrm>
          <a:prstGeom prst="roundRect">
            <a:avLst>
              <a:gd name="adj" fmla="val 595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4" name="Number badge"/>
          <p:cNvSpPr/>
          <p:nvPr/>
        </p:nvSpPr>
        <p:spPr>
          <a:xfrm>
            <a:off x="3941064" y="1417320"/>
            <a:ext cx="457200" cy="457200"/>
          </a:xfrm>
          <a:prstGeom prst="ellipse">
            <a:avLst/>
          </a:prstGeom>
          <a:solidFill>
            <a:schemeClr val="accent4"/>
          </a:solidFill>
          <a:ln w="12700">
            <a:solidFill>
              <a:schemeClr val="accent4"/>
            </a:solidFill>
            <a:prstDash val="solid"/>
          </a:ln>
        </p:spPr>
      </p:sp>
      <p:sp>
        <p:nvSpPr>
          <p:cNvPr id="15" name="Text 13"/>
          <p:cNvSpPr txBox="1"/>
          <p:nvPr/>
        </p:nvSpPr>
        <p:spPr>
          <a:xfrm>
            <a:off x="3941064" y="14173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Text 14"/>
          <p:cNvSpPr txBox="1"/>
          <p:nvPr/>
        </p:nvSpPr>
        <p:spPr>
          <a:xfrm>
            <a:off x="3941064" y="2011680"/>
            <a:ext cx="1280160" cy="274320"/>
          </a:xfrm>
          <a:prstGeom prst="rect">
            <a:avLst/>
          </a:prstGeom>
          <a:noFill/>
          <a:ln/>
        </p:spPr>
        <p:txBody>
          <a:bodyPr wrap="square" lIns="0" tIns="0" rIns="0" bIns="0" rtlCol="0" anchor="t"/>
          <a:lstStyle/>
          <a:p>
            <a:pPr indent="0" marL="0">
              <a:buNone/>
            </a:pPr>
            <a:r>
              <a:rPr lang="en-US" sz="1500" b="1" dirty="0">
                <a:solidFill>
                  <a:schemeClr val="tx1"/>
                </a:solidFill>
              </a:rPr>
              <a:t>Log in</a:t>
            </a:r>
            <a:endParaRPr lang="en-US" sz="1500" dirty="0"/>
          </a:p>
        </p:txBody>
      </p:sp>
      <p:sp>
        <p:nvSpPr>
          <p:cNvPr id="17" name="Text 15"/>
          <p:cNvSpPr txBox="1"/>
          <p:nvPr/>
        </p:nvSpPr>
        <p:spPr>
          <a:xfrm>
            <a:off x="3941064" y="2331720"/>
            <a:ext cx="1280160" cy="1234440"/>
          </a:xfrm>
          <a:prstGeom prst="rect">
            <a:avLst/>
          </a:prstGeom>
          <a:noFill/>
          <a:ln/>
        </p:spPr>
        <p:txBody>
          <a:bodyPr wrap="square" lIns="0" tIns="0" rIns="0" bIns="0" rtlCol="0" anchor="t"/>
          <a:lstStyle/>
          <a:p>
            <a:pPr indent="0" marL="0">
              <a:buNone/>
            </a:pPr>
            <a:r>
              <a:rPr lang="en-US" sz="1200" dirty="0">
                <a:solidFill>
                  <a:schemeClr val="accent5"/>
                </a:solidFill>
              </a:rPr>
              <a:t>Open :3000 and sign in as admin, then change the password</a:t>
            </a:r>
            <a:endParaRPr lang="en-US" sz="1200" dirty="0"/>
          </a:p>
        </p:txBody>
      </p:sp>
      <p:sp>
        <p:nvSpPr>
          <p:cNvPr id="18" name="Card"/>
          <p:cNvSpPr/>
          <p:nvPr/>
        </p:nvSpPr>
        <p:spPr>
          <a:xfrm>
            <a:off x="5477256" y="1280160"/>
            <a:ext cx="1536192" cy="2377440"/>
          </a:xfrm>
          <a:prstGeom prst="roundRect">
            <a:avLst>
              <a:gd name="adj" fmla="val 595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9" name="Number badge"/>
          <p:cNvSpPr/>
          <p:nvPr/>
        </p:nvSpPr>
        <p:spPr>
          <a:xfrm>
            <a:off x="5614416" y="1417320"/>
            <a:ext cx="457200" cy="457200"/>
          </a:xfrm>
          <a:prstGeom prst="ellipse">
            <a:avLst/>
          </a:prstGeom>
          <a:solidFill>
            <a:schemeClr val="accent4"/>
          </a:solidFill>
          <a:ln w="12700">
            <a:solidFill>
              <a:schemeClr val="accent4"/>
            </a:solidFill>
            <a:prstDash val="solid"/>
          </a:ln>
        </p:spPr>
      </p:sp>
      <p:sp>
        <p:nvSpPr>
          <p:cNvPr id="20" name="Text 18"/>
          <p:cNvSpPr txBox="1"/>
          <p:nvPr/>
        </p:nvSpPr>
        <p:spPr>
          <a:xfrm>
            <a:off x="5614416" y="14173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1" name="Text 19"/>
          <p:cNvSpPr txBox="1"/>
          <p:nvPr/>
        </p:nvSpPr>
        <p:spPr>
          <a:xfrm>
            <a:off x="5614416" y="2011680"/>
            <a:ext cx="1280160" cy="274320"/>
          </a:xfrm>
          <a:prstGeom prst="rect">
            <a:avLst/>
          </a:prstGeom>
          <a:noFill/>
          <a:ln/>
        </p:spPr>
        <p:txBody>
          <a:bodyPr wrap="square" lIns="0" tIns="0" rIns="0" bIns="0" rtlCol="0" anchor="t"/>
          <a:lstStyle/>
          <a:p>
            <a:pPr indent="0" marL="0">
              <a:buNone/>
            </a:pPr>
            <a:r>
              <a:rPr lang="en-US" sz="1500" b="1" dirty="0">
                <a:solidFill>
                  <a:schemeClr val="tx1"/>
                </a:solidFill>
              </a:rPr>
              <a:t>Add source</a:t>
            </a:r>
            <a:endParaRPr lang="en-US" sz="1500" dirty="0"/>
          </a:p>
        </p:txBody>
      </p:sp>
      <p:sp>
        <p:nvSpPr>
          <p:cNvPr id="22" name="Text 20"/>
          <p:cNvSpPr txBox="1"/>
          <p:nvPr/>
        </p:nvSpPr>
        <p:spPr>
          <a:xfrm>
            <a:off x="5614416" y="2331720"/>
            <a:ext cx="1280160" cy="1234440"/>
          </a:xfrm>
          <a:prstGeom prst="rect">
            <a:avLst/>
          </a:prstGeom>
          <a:noFill/>
          <a:ln/>
        </p:spPr>
        <p:txBody>
          <a:bodyPr wrap="square" lIns="0" tIns="0" rIns="0" bIns="0" rtlCol="0" anchor="t"/>
          <a:lstStyle/>
          <a:p>
            <a:pPr indent="0" marL="0">
              <a:buNone/>
            </a:pPr>
            <a:r>
              <a:rPr lang="en-US" sz="1200" dirty="0">
                <a:solidFill>
                  <a:schemeClr val="accent5"/>
                </a:solidFill>
              </a:rPr>
              <a:t>Connections → Data sources → Prometheus</a:t>
            </a:r>
            <a:endParaRPr lang="en-US" sz="1200" dirty="0"/>
          </a:p>
        </p:txBody>
      </p:sp>
      <p:sp>
        <p:nvSpPr>
          <p:cNvPr id="23" name="Card"/>
          <p:cNvSpPr/>
          <p:nvPr/>
        </p:nvSpPr>
        <p:spPr>
          <a:xfrm>
            <a:off x="7150608" y="1280160"/>
            <a:ext cx="1536192" cy="2377440"/>
          </a:xfrm>
          <a:prstGeom prst="roundRect">
            <a:avLst>
              <a:gd name="adj" fmla="val 595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24" name="Number badge"/>
          <p:cNvSpPr/>
          <p:nvPr/>
        </p:nvSpPr>
        <p:spPr>
          <a:xfrm>
            <a:off x="7287768" y="1417320"/>
            <a:ext cx="457200" cy="457200"/>
          </a:xfrm>
          <a:prstGeom prst="ellipse">
            <a:avLst/>
          </a:prstGeom>
          <a:solidFill>
            <a:schemeClr val="accent2"/>
          </a:solidFill>
          <a:ln w="12700">
            <a:solidFill>
              <a:schemeClr val="accent2"/>
            </a:solidFill>
            <a:prstDash val="solid"/>
          </a:ln>
        </p:spPr>
      </p:sp>
      <p:sp>
        <p:nvSpPr>
          <p:cNvPr id="25" name="Text 23"/>
          <p:cNvSpPr txBox="1"/>
          <p:nvPr/>
        </p:nvSpPr>
        <p:spPr>
          <a:xfrm>
            <a:off x="7287768" y="141732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6" name="Text 24"/>
          <p:cNvSpPr txBox="1"/>
          <p:nvPr/>
        </p:nvSpPr>
        <p:spPr>
          <a:xfrm>
            <a:off x="7287768" y="2011680"/>
            <a:ext cx="1280160" cy="274320"/>
          </a:xfrm>
          <a:prstGeom prst="rect">
            <a:avLst/>
          </a:prstGeom>
          <a:noFill/>
          <a:ln/>
        </p:spPr>
        <p:txBody>
          <a:bodyPr wrap="square" lIns="0" tIns="0" rIns="0" bIns="0" rtlCol="0" anchor="t"/>
          <a:lstStyle/>
          <a:p>
            <a:pPr indent="0" marL="0">
              <a:buNone/>
            </a:pPr>
            <a:r>
              <a:rPr lang="en-US" sz="1500" b="1" dirty="0">
                <a:solidFill>
                  <a:schemeClr val="tx1"/>
                </a:solidFill>
              </a:rPr>
              <a:t>Connect</a:t>
            </a:r>
            <a:endParaRPr lang="en-US" sz="1500" dirty="0"/>
          </a:p>
        </p:txBody>
      </p:sp>
      <p:sp>
        <p:nvSpPr>
          <p:cNvPr id="27" name="Text 25"/>
          <p:cNvSpPr txBox="1"/>
          <p:nvPr/>
        </p:nvSpPr>
        <p:spPr>
          <a:xfrm>
            <a:off x="7287768" y="2331720"/>
            <a:ext cx="1280160" cy="1234440"/>
          </a:xfrm>
          <a:prstGeom prst="rect">
            <a:avLst/>
          </a:prstGeom>
          <a:noFill/>
          <a:ln/>
        </p:spPr>
        <p:txBody>
          <a:bodyPr wrap="square" lIns="0" tIns="0" rIns="0" bIns="0" rtlCol="0" anchor="t"/>
          <a:lstStyle/>
          <a:p>
            <a:pPr indent="0" marL="0">
              <a:buNone/>
            </a:pPr>
            <a:r>
              <a:rPr lang="en-US" sz="1200" dirty="0">
                <a:solidFill>
                  <a:schemeClr val="accent5"/>
                </a:solidFill>
              </a:rPr>
              <a:t>Use localhost:9090, then Save &amp; test</a:t>
            </a:r>
            <a:endParaRPr lang="en-US" sz="1200" dirty="0"/>
          </a:p>
        </p:txBody>
      </p:sp>
      <p:sp>
        <p:nvSpPr>
          <p:cNvPr id="28" name="Card"/>
          <p:cNvSpPr/>
          <p:nvPr/>
        </p:nvSpPr>
        <p:spPr>
          <a:xfrm>
            <a:off x="457200" y="3840480"/>
            <a:ext cx="8229600" cy="731520"/>
          </a:xfrm>
          <a:prstGeom prst="roundRect">
            <a:avLst>
              <a:gd name="adj" fmla="val 12500"/>
            </a:avLst>
          </a:prstGeom>
          <a:solidFill>
            <a:schemeClr val="bg2"/>
          </a:solidFill>
          <a:ln w="12700">
            <a:solidFill>
              <a:schemeClr val="bg2"/>
            </a:solidFill>
            <a:prstDash val="solid"/>
          </a:ln>
        </p:spPr>
      </p:sp>
      <p:sp>
        <p:nvSpPr>
          <p:cNvPr id="29" name="Icon circle"/>
          <p:cNvSpPr/>
          <p:nvPr/>
        </p:nvSpPr>
        <p:spPr>
          <a:xfrm>
            <a:off x="640080" y="3931920"/>
            <a:ext cx="548640" cy="548640"/>
          </a:xfrm>
          <a:prstGeom prst="ellipse">
            <a:avLst/>
          </a:prstGeom>
          <a:solidFill>
            <a:schemeClr val="accent1"/>
          </a:solidFill>
          <a:ln w="12700">
            <a:solidFill>
              <a:schemeClr val="accent1"/>
            </a:solidFill>
            <a:prstDash val="solid"/>
          </a:ln>
        </p:spPr>
      </p:sp>
      <p:pic>
        <p:nvPicPr>
          <p:cNvPr id="30" name="Image 0" descr="FaLock">    </p:cNvPr>
          <p:cNvPicPr>
            <a:picLocks noChangeAspect="1"/>
          </p:cNvPicPr>
          <p:nvPr/>
        </p:nvPicPr>
        <p:blipFill>
          <a:blip r:embed="rId1"/>
          <a:stretch>
            <a:fillRect/>
          </a:stretch>
        </p:blipFill>
        <p:spPr>
          <a:xfrm>
            <a:off x="777240" y="4069080"/>
            <a:ext cx="274320" cy="274320"/>
          </a:xfrm>
          <a:prstGeom prst="rect">
            <a:avLst/>
          </a:prstGeom>
        </p:spPr>
      </p:pic>
      <p:sp>
        <p:nvSpPr>
          <p:cNvPr id="31" name="Text 28"/>
          <p:cNvSpPr txBox="1"/>
          <p:nvPr/>
        </p:nvSpPr>
        <p:spPr>
          <a:xfrm>
            <a:off x="1371600" y="3840480"/>
            <a:ext cx="7132320" cy="731520"/>
          </a:xfrm>
          <a:prstGeom prst="rect">
            <a:avLst/>
          </a:prstGeom>
          <a:noFill/>
          <a:ln/>
        </p:spPr>
        <p:txBody>
          <a:bodyPr wrap="square" lIns="0" tIns="0" rIns="0" bIns="0" rtlCol="0" anchor="ctr"/>
          <a:lstStyle/>
          <a:p>
            <a:pPr indent="0" marL="0">
              <a:buNone/>
            </a:pPr>
            <a:r>
              <a:rPr lang="en-US" sz="1400" dirty="0">
                <a:solidFill>
                  <a:schemeClr val="tx1"/>
                </a:solidFill>
              </a:rPr>
              <a:t>Never leave default credentials unchanged on an exposed server.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CPU Usage Query</a:t>
            </a:r>
            <a:endParaRPr lang="en-US" sz="3400" dirty="0"/>
          </a:p>
        </p:txBody>
      </p:sp>
      <p:sp>
        <p:nvSpPr>
          <p:cNvPr id="3" name="Card"/>
          <p:cNvSpPr/>
          <p:nvPr/>
        </p:nvSpPr>
        <p:spPr>
          <a:xfrm>
            <a:off x="457200" y="1280160"/>
            <a:ext cx="8229600" cy="685800"/>
          </a:xfrm>
          <a:prstGeom prst="roundRect">
            <a:avLst>
              <a:gd name="adj" fmla="val 13333"/>
            </a:avLst>
          </a:prstGeom>
          <a:solidFill>
            <a:schemeClr val="tx1"/>
          </a:solidFill>
          <a:ln w="12700">
            <a:solidFill>
              <a:schemeClr val="tx1"/>
            </a:solidFill>
            <a:prstDash val="solid"/>
          </a:ln>
        </p:spPr>
      </p:sp>
      <p:sp>
        <p:nvSpPr>
          <p:cNvPr id="4" name="Code"/>
          <p:cNvSpPr txBox="1"/>
          <p:nvPr/>
        </p:nvSpPr>
        <p:spPr>
          <a:xfrm>
            <a:off x="640080" y="1280160"/>
            <a:ext cx="7863840" cy="685800"/>
          </a:xfrm>
          <a:prstGeom prst="rect">
            <a:avLst/>
          </a:prstGeom>
          <a:noFill/>
          <a:ln/>
        </p:spPr>
        <p:txBody>
          <a:bodyPr wrap="square" lIns="0" tIns="0" rIns="0" bIns="0"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100 - (avg by (instance) (irate(node_cpu_seconds_total{mode="idle"}[5m])) * 100)</a:t>
            </a:r>
            <a:endParaRPr lang="en-US" sz="1200" dirty="0"/>
          </a:p>
        </p:txBody>
      </p:sp>
      <p:sp>
        <p:nvSpPr>
          <p:cNvPr id="5" name="Card"/>
          <p:cNvSpPr/>
          <p:nvPr/>
        </p:nvSpPr>
        <p:spPr>
          <a:xfrm>
            <a:off x="457200" y="2194560"/>
            <a:ext cx="1554480" cy="1691640"/>
          </a:xfrm>
          <a:prstGeom prst="roundRect">
            <a:avLst>
              <a:gd name="adj" fmla="val 588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6" name="Number badge"/>
          <p:cNvSpPr/>
          <p:nvPr/>
        </p:nvSpPr>
        <p:spPr>
          <a:xfrm>
            <a:off x="594360" y="2331720"/>
            <a:ext cx="365760" cy="365760"/>
          </a:xfrm>
          <a:prstGeom prst="ellipse">
            <a:avLst/>
          </a:prstGeom>
          <a:solidFill>
            <a:schemeClr val="accent1"/>
          </a:solidFill>
          <a:ln w="12700">
            <a:solidFill>
              <a:schemeClr val="accent1"/>
            </a:solidFill>
            <a:prstDash val="solid"/>
          </a:ln>
        </p:spPr>
      </p:sp>
      <p:sp>
        <p:nvSpPr>
          <p:cNvPr id="7" name="Text 5"/>
          <p:cNvSpPr txBox="1"/>
          <p:nvPr/>
        </p:nvSpPr>
        <p:spPr>
          <a:xfrm>
            <a:off x="594360" y="23317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6"/>
          <p:cNvSpPr txBox="1"/>
          <p:nvPr/>
        </p:nvSpPr>
        <p:spPr>
          <a:xfrm>
            <a:off x="594360" y="2788920"/>
            <a:ext cx="1325880" cy="274320"/>
          </a:xfrm>
          <a:prstGeom prst="rect">
            <a:avLst/>
          </a:prstGeom>
          <a:noFill/>
          <a:ln/>
        </p:spPr>
        <p:txBody>
          <a:bodyPr wrap="square" lIns="0" tIns="0" rIns="0" bIns="0" rtlCol="0" anchor="t"/>
          <a:lstStyle/>
          <a:p>
            <a:pPr indent="0" marL="0">
              <a:buNone/>
            </a:pPr>
            <a:r>
              <a:rPr lang="en-US" sz="1400" b="1" dirty="0">
                <a:solidFill>
                  <a:schemeClr val="tx1"/>
                </a:solidFill>
              </a:rPr>
              <a:t>CPU time</a:t>
            </a:r>
            <a:endParaRPr lang="en-US" sz="1400" dirty="0"/>
          </a:p>
        </p:txBody>
      </p:sp>
      <p:sp>
        <p:nvSpPr>
          <p:cNvPr id="9" name="Text 7"/>
          <p:cNvSpPr txBox="1"/>
          <p:nvPr/>
        </p:nvSpPr>
        <p:spPr>
          <a:xfrm>
            <a:off x="594360" y="3108960"/>
            <a:ext cx="1280160" cy="731520"/>
          </a:xfrm>
          <a:prstGeom prst="rect">
            <a:avLst/>
          </a:prstGeom>
          <a:noFill/>
          <a:ln/>
        </p:spPr>
        <p:txBody>
          <a:bodyPr wrap="square" lIns="0" tIns="0" rIns="0" bIns="0" rtlCol="0" anchor="t"/>
          <a:lstStyle/>
          <a:p>
            <a:pPr indent="0" marL="0">
              <a:buNone/>
            </a:pPr>
            <a:r>
              <a:rPr lang="en-US" sz="1200" dirty="0">
                <a:solidFill>
                  <a:schemeClr val="accent5"/>
                </a:solidFill>
              </a:rPr>
              <a:t>Cumulative CPU seconds exposed by Node Exporter</a:t>
            </a:r>
            <a:endParaRPr lang="en-US" sz="1200" dirty="0"/>
          </a:p>
        </p:txBody>
      </p:sp>
      <p:sp>
        <p:nvSpPr>
          <p:cNvPr id="10" name="Card"/>
          <p:cNvSpPr/>
          <p:nvPr/>
        </p:nvSpPr>
        <p:spPr>
          <a:xfrm>
            <a:off x="2125980" y="2194560"/>
            <a:ext cx="1554480" cy="1691640"/>
          </a:xfrm>
          <a:prstGeom prst="roundRect">
            <a:avLst>
              <a:gd name="adj" fmla="val 588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1" name="Number badge"/>
          <p:cNvSpPr/>
          <p:nvPr/>
        </p:nvSpPr>
        <p:spPr>
          <a:xfrm>
            <a:off x="2263140" y="2331720"/>
            <a:ext cx="365760" cy="365760"/>
          </a:xfrm>
          <a:prstGeom prst="ellipse">
            <a:avLst/>
          </a:prstGeom>
          <a:solidFill>
            <a:schemeClr val="accent1"/>
          </a:solidFill>
          <a:ln w="12700">
            <a:solidFill>
              <a:schemeClr val="accent1"/>
            </a:solidFill>
            <a:prstDash val="solid"/>
          </a:ln>
        </p:spPr>
      </p:sp>
      <p:sp>
        <p:nvSpPr>
          <p:cNvPr id="12" name="Text 10"/>
          <p:cNvSpPr txBox="1"/>
          <p:nvPr/>
        </p:nvSpPr>
        <p:spPr>
          <a:xfrm>
            <a:off x="2263140" y="23317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1"/>
          <p:cNvSpPr txBox="1"/>
          <p:nvPr/>
        </p:nvSpPr>
        <p:spPr>
          <a:xfrm>
            <a:off x="2263140" y="2788920"/>
            <a:ext cx="1325880" cy="274320"/>
          </a:xfrm>
          <a:prstGeom prst="rect">
            <a:avLst/>
          </a:prstGeom>
          <a:noFill/>
          <a:ln/>
        </p:spPr>
        <p:txBody>
          <a:bodyPr wrap="square" lIns="0" tIns="0" rIns="0" bIns="0" rtlCol="0" anchor="t"/>
          <a:lstStyle/>
          <a:p>
            <a:pPr indent="0" marL="0">
              <a:buNone/>
            </a:pPr>
            <a:r>
              <a:rPr lang="en-US" sz="1400" b="1" dirty="0">
                <a:solidFill>
                  <a:schemeClr val="tx1"/>
                </a:solidFill>
              </a:rPr>
              <a:t>Idle mode</a:t>
            </a:r>
            <a:endParaRPr lang="en-US" sz="1400" dirty="0"/>
          </a:p>
        </p:txBody>
      </p:sp>
      <p:sp>
        <p:nvSpPr>
          <p:cNvPr id="14" name="Text 12"/>
          <p:cNvSpPr txBox="1"/>
          <p:nvPr/>
        </p:nvSpPr>
        <p:spPr>
          <a:xfrm>
            <a:off x="2263140" y="3108960"/>
            <a:ext cx="1280160" cy="731520"/>
          </a:xfrm>
          <a:prstGeom prst="rect">
            <a:avLst/>
          </a:prstGeom>
          <a:noFill/>
          <a:ln/>
        </p:spPr>
        <p:txBody>
          <a:bodyPr wrap="square" lIns="0" tIns="0" rIns="0" bIns="0" rtlCol="0" anchor="t"/>
          <a:lstStyle/>
          <a:p>
            <a:pPr indent="0" marL="0">
              <a:buNone/>
            </a:pPr>
            <a:r>
              <a:rPr lang="en-US" sz="1200" dirty="0">
                <a:solidFill>
                  <a:schemeClr val="accent5"/>
                </a:solidFill>
              </a:rPr>
              <a:t>Selects the time the CPU spent idle</a:t>
            </a:r>
            <a:endParaRPr lang="en-US" sz="1200" dirty="0"/>
          </a:p>
        </p:txBody>
      </p:sp>
      <p:sp>
        <p:nvSpPr>
          <p:cNvPr id="15" name="Card"/>
          <p:cNvSpPr/>
          <p:nvPr/>
        </p:nvSpPr>
        <p:spPr>
          <a:xfrm>
            <a:off x="3794760" y="2194560"/>
            <a:ext cx="1554480" cy="1691640"/>
          </a:xfrm>
          <a:prstGeom prst="roundRect">
            <a:avLst>
              <a:gd name="adj" fmla="val 588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6" name="Number badge"/>
          <p:cNvSpPr/>
          <p:nvPr/>
        </p:nvSpPr>
        <p:spPr>
          <a:xfrm>
            <a:off x="3931920" y="2331720"/>
            <a:ext cx="365760" cy="365760"/>
          </a:xfrm>
          <a:prstGeom prst="ellipse">
            <a:avLst/>
          </a:prstGeom>
          <a:solidFill>
            <a:schemeClr val="accent1"/>
          </a:solidFill>
          <a:ln w="12700">
            <a:solidFill>
              <a:schemeClr val="accent1"/>
            </a:solidFill>
            <a:prstDash val="solid"/>
          </a:ln>
        </p:spPr>
      </p:sp>
      <p:sp>
        <p:nvSpPr>
          <p:cNvPr id="17" name="Text 15"/>
          <p:cNvSpPr txBox="1"/>
          <p:nvPr/>
        </p:nvSpPr>
        <p:spPr>
          <a:xfrm>
            <a:off x="3931920" y="23317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6"/>
          <p:cNvSpPr txBox="1"/>
          <p:nvPr/>
        </p:nvSpPr>
        <p:spPr>
          <a:xfrm>
            <a:off x="3931920" y="2788920"/>
            <a:ext cx="1325880" cy="274320"/>
          </a:xfrm>
          <a:prstGeom prst="rect">
            <a:avLst/>
          </a:prstGeom>
          <a:noFill/>
          <a:ln/>
        </p:spPr>
        <p:txBody>
          <a:bodyPr wrap="square" lIns="0" tIns="0" rIns="0" bIns="0" rtlCol="0" anchor="t"/>
          <a:lstStyle/>
          <a:p>
            <a:pPr indent="0" marL="0">
              <a:buNone/>
            </a:pPr>
            <a:r>
              <a:rPr lang="en-US" sz="1400" b="1" dirty="0">
                <a:solidFill>
                  <a:schemeClr val="tx1"/>
                </a:solidFill>
              </a:rPr>
              <a:t>irate [5m]</a:t>
            </a:r>
            <a:endParaRPr lang="en-US" sz="1400" dirty="0"/>
          </a:p>
        </p:txBody>
      </p:sp>
      <p:sp>
        <p:nvSpPr>
          <p:cNvPr id="19" name="Text 17"/>
          <p:cNvSpPr txBox="1"/>
          <p:nvPr/>
        </p:nvSpPr>
        <p:spPr>
          <a:xfrm>
            <a:off x="3931920" y="3108960"/>
            <a:ext cx="1280160" cy="731520"/>
          </a:xfrm>
          <a:prstGeom prst="rect">
            <a:avLst/>
          </a:prstGeom>
          <a:noFill/>
          <a:ln/>
        </p:spPr>
        <p:txBody>
          <a:bodyPr wrap="square" lIns="0" tIns="0" rIns="0" bIns="0" rtlCol="0" anchor="t"/>
          <a:lstStyle/>
          <a:p>
            <a:pPr indent="0" marL="0">
              <a:buNone/>
            </a:pPr>
            <a:r>
              <a:rPr lang="en-US" sz="1200" dirty="0">
                <a:solidFill>
                  <a:schemeClr val="accent5"/>
                </a:solidFill>
              </a:rPr>
              <a:t>Per-second rate from the last two samples</a:t>
            </a:r>
            <a:endParaRPr lang="en-US" sz="1200" dirty="0"/>
          </a:p>
        </p:txBody>
      </p:sp>
      <p:sp>
        <p:nvSpPr>
          <p:cNvPr id="20" name="Card"/>
          <p:cNvSpPr/>
          <p:nvPr/>
        </p:nvSpPr>
        <p:spPr>
          <a:xfrm>
            <a:off x="5463540" y="2194560"/>
            <a:ext cx="1554480" cy="1691640"/>
          </a:xfrm>
          <a:prstGeom prst="roundRect">
            <a:avLst>
              <a:gd name="adj" fmla="val 588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21" name="Number badge"/>
          <p:cNvSpPr/>
          <p:nvPr/>
        </p:nvSpPr>
        <p:spPr>
          <a:xfrm>
            <a:off x="5600700" y="2331720"/>
            <a:ext cx="365760" cy="365760"/>
          </a:xfrm>
          <a:prstGeom prst="ellipse">
            <a:avLst/>
          </a:prstGeom>
          <a:solidFill>
            <a:schemeClr val="accent1"/>
          </a:solidFill>
          <a:ln w="12700">
            <a:solidFill>
              <a:schemeClr val="accent1"/>
            </a:solidFill>
            <a:prstDash val="solid"/>
          </a:ln>
        </p:spPr>
      </p:sp>
      <p:sp>
        <p:nvSpPr>
          <p:cNvPr id="22" name="Text 20"/>
          <p:cNvSpPr txBox="1"/>
          <p:nvPr/>
        </p:nvSpPr>
        <p:spPr>
          <a:xfrm>
            <a:off x="5600700" y="23317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3" name="Text 21"/>
          <p:cNvSpPr txBox="1"/>
          <p:nvPr/>
        </p:nvSpPr>
        <p:spPr>
          <a:xfrm>
            <a:off x="5600700" y="2788920"/>
            <a:ext cx="1325880" cy="274320"/>
          </a:xfrm>
          <a:prstGeom prst="rect">
            <a:avLst/>
          </a:prstGeom>
          <a:noFill/>
          <a:ln/>
        </p:spPr>
        <p:txBody>
          <a:bodyPr wrap="square" lIns="0" tIns="0" rIns="0" bIns="0" rtlCol="0" anchor="t"/>
          <a:lstStyle/>
          <a:p>
            <a:pPr indent="0" marL="0">
              <a:buNone/>
            </a:pPr>
            <a:r>
              <a:rPr lang="en-US" sz="1400" b="1" dirty="0">
                <a:solidFill>
                  <a:schemeClr val="tx1"/>
                </a:solidFill>
              </a:rPr>
              <a:t>avg by instance</a:t>
            </a:r>
            <a:endParaRPr lang="en-US" sz="1400" dirty="0"/>
          </a:p>
        </p:txBody>
      </p:sp>
      <p:sp>
        <p:nvSpPr>
          <p:cNvPr id="24" name="Text 22"/>
          <p:cNvSpPr txBox="1"/>
          <p:nvPr/>
        </p:nvSpPr>
        <p:spPr>
          <a:xfrm>
            <a:off x="5600700" y="3108960"/>
            <a:ext cx="1280160" cy="731520"/>
          </a:xfrm>
          <a:prstGeom prst="rect">
            <a:avLst/>
          </a:prstGeom>
          <a:noFill/>
          <a:ln/>
        </p:spPr>
        <p:txBody>
          <a:bodyPr wrap="square" lIns="0" tIns="0" rIns="0" bIns="0" rtlCol="0" anchor="t"/>
          <a:lstStyle/>
          <a:p>
            <a:pPr indent="0" marL="0">
              <a:buNone/>
            </a:pPr>
            <a:r>
              <a:rPr lang="en-US" sz="1200" dirty="0">
                <a:solidFill>
                  <a:schemeClr val="accent5"/>
                </a:solidFill>
              </a:rPr>
              <a:t>Averages idle rate across CPU cores</a:t>
            </a:r>
            <a:endParaRPr lang="en-US" sz="1200" dirty="0"/>
          </a:p>
        </p:txBody>
      </p:sp>
      <p:sp>
        <p:nvSpPr>
          <p:cNvPr id="25" name="Card"/>
          <p:cNvSpPr/>
          <p:nvPr/>
        </p:nvSpPr>
        <p:spPr>
          <a:xfrm>
            <a:off x="7132320" y="2194560"/>
            <a:ext cx="1554480" cy="1691640"/>
          </a:xfrm>
          <a:prstGeom prst="roundRect">
            <a:avLst>
              <a:gd name="adj" fmla="val 5882"/>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26" name="Number badge"/>
          <p:cNvSpPr/>
          <p:nvPr/>
        </p:nvSpPr>
        <p:spPr>
          <a:xfrm>
            <a:off x="7269480" y="2331720"/>
            <a:ext cx="365760" cy="365760"/>
          </a:xfrm>
          <a:prstGeom prst="ellipse">
            <a:avLst/>
          </a:prstGeom>
          <a:solidFill>
            <a:schemeClr val="accent1"/>
          </a:solidFill>
          <a:ln w="12700">
            <a:solidFill>
              <a:schemeClr val="accent1"/>
            </a:solidFill>
            <a:prstDash val="solid"/>
          </a:ln>
        </p:spPr>
      </p:sp>
      <p:sp>
        <p:nvSpPr>
          <p:cNvPr id="27" name="Text 25"/>
          <p:cNvSpPr txBox="1"/>
          <p:nvPr/>
        </p:nvSpPr>
        <p:spPr>
          <a:xfrm>
            <a:off x="7269480" y="233172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8" name="Text 26"/>
          <p:cNvSpPr txBox="1"/>
          <p:nvPr/>
        </p:nvSpPr>
        <p:spPr>
          <a:xfrm>
            <a:off x="7269480" y="2788920"/>
            <a:ext cx="1325880" cy="274320"/>
          </a:xfrm>
          <a:prstGeom prst="rect">
            <a:avLst/>
          </a:prstGeom>
          <a:noFill/>
          <a:ln/>
        </p:spPr>
        <p:txBody>
          <a:bodyPr wrap="square" lIns="0" tIns="0" rIns="0" bIns="0" rtlCol="0" anchor="t"/>
          <a:lstStyle/>
          <a:p>
            <a:pPr indent="0" marL="0">
              <a:buNone/>
            </a:pPr>
            <a:r>
              <a:rPr lang="en-US" sz="1400" b="1" dirty="0">
                <a:solidFill>
                  <a:schemeClr val="tx1"/>
                </a:solidFill>
              </a:rPr>
              <a:t>100 − idle</a:t>
            </a:r>
            <a:endParaRPr lang="en-US" sz="1400" dirty="0"/>
          </a:p>
        </p:txBody>
      </p:sp>
      <p:sp>
        <p:nvSpPr>
          <p:cNvPr id="29" name="Text 27"/>
          <p:cNvSpPr txBox="1"/>
          <p:nvPr/>
        </p:nvSpPr>
        <p:spPr>
          <a:xfrm>
            <a:off x="7269480" y="3108960"/>
            <a:ext cx="1280160" cy="731520"/>
          </a:xfrm>
          <a:prstGeom prst="rect">
            <a:avLst/>
          </a:prstGeom>
          <a:noFill/>
          <a:ln/>
        </p:spPr>
        <p:txBody>
          <a:bodyPr wrap="square" lIns="0" tIns="0" rIns="0" bIns="0" rtlCol="0" anchor="t"/>
          <a:lstStyle/>
          <a:p>
            <a:pPr indent="0" marL="0">
              <a:buNone/>
            </a:pPr>
            <a:r>
              <a:rPr lang="en-US" sz="1200" dirty="0">
                <a:solidFill>
                  <a:schemeClr val="accent5"/>
                </a:solidFill>
              </a:rPr>
              <a:t>Idle × 100 gives idle %; subtract from 100</a:t>
            </a:r>
            <a:endParaRPr lang="en-US" sz="1200" dirty="0"/>
          </a:p>
        </p:txBody>
      </p:sp>
      <p:sp>
        <p:nvSpPr>
          <p:cNvPr id="30" name="Card"/>
          <p:cNvSpPr/>
          <p:nvPr/>
        </p:nvSpPr>
        <p:spPr>
          <a:xfrm>
            <a:off x="457200" y="4069080"/>
            <a:ext cx="8229600" cy="548640"/>
          </a:xfrm>
          <a:prstGeom prst="roundRect">
            <a:avLst>
              <a:gd name="adj" fmla="val 16667"/>
            </a:avLst>
          </a:prstGeom>
          <a:solidFill>
            <a:schemeClr val="tx1"/>
          </a:solidFill>
          <a:ln w="12700">
            <a:solidFill>
              <a:schemeClr val="tx1"/>
            </a:solidFill>
            <a:prstDash val="solid"/>
          </a:ln>
        </p:spPr>
      </p:sp>
      <p:sp>
        <p:nvSpPr>
          <p:cNvPr id="31" name="Text 29"/>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400" b="1" dirty="0">
                <a:solidFill>
                  <a:schemeClr val="accent3"/>
                </a:solidFill>
              </a:rPr>
              <a:t>Result: </a:t>
            </a:r>
            <a:pPr indent="0" marL="0">
              <a:buNone/>
            </a:pPr>
            <a:r>
              <a:rPr lang="en-US" sz="1400" dirty="0">
                <a:solidFill>
                  <a:schemeClr val="bg1"/>
                </a:solidFill>
              </a:rPr>
              <a:t>approximate CPU utilization % per instance, e.g. 25%</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Memory Usage Query</a:t>
            </a:r>
            <a:endParaRPr lang="en-US" sz="3400" dirty="0"/>
          </a:p>
        </p:txBody>
      </p:sp>
      <p:sp>
        <p:nvSpPr>
          <p:cNvPr id="3" name="Card"/>
          <p:cNvSpPr/>
          <p:nvPr/>
        </p:nvSpPr>
        <p:spPr>
          <a:xfrm>
            <a:off x="457200" y="1280160"/>
            <a:ext cx="8229600" cy="685800"/>
          </a:xfrm>
          <a:prstGeom prst="roundRect">
            <a:avLst>
              <a:gd name="adj" fmla="val 13333"/>
            </a:avLst>
          </a:prstGeom>
          <a:solidFill>
            <a:schemeClr val="tx1"/>
          </a:solidFill>
          <a:ln w="12700">
            <a:solidFill>
              <a:schemeClr val="tx1"/>
            </a:solidFill>
            <a:prstDash val="solid"/>
          </a:ln>
        </p:spPr>
      </p:sp>
      <p:sp>
        <p:nvSpPr>
          <p:cNvPr id="4" name="Code"/>
          <p:cNvSpPr txBox="1"/>
          <p:nvPr/>
        </p:nvSpPr>
        <p:spPr>
          <a:xfrm>
            <a:off x="640080" y="1280160"/>
            <a:ext cx="7863840" cy="685800"/>
          </a:xfrm>
          <a:prstGeom prst="rect">
            <a:avLst/>
          </a:prstGeom>
          <a:noFill/>
          <a:ln/>
        </p:spPr>
        <p:txBody>
          <a:bodyPr wrap="square" lIns="0" tIns="0" rIns="0" bIns="0" rtlCol="0" anchor="ctr"/>
          <a:lstStyle/>
          <a:p>
            <a:pPr indent="0" marL="0">
              <a:buNone/>
            </a:pPr>
            <a:r>
              <a:rPr lang="en-US" sz="1200" dirty="0">
                <a:solidFill>
                  <a:schemeClr val="accent6"/>
                </a:solidFill>
                <a:latin typeface="Courier New" pitchFamily="34" charset="0"/>
                <a:ea typeface="Courier New" pitchFamily="34" charset="-122"/>
                <a:cs typeface="Courier New" pitchFamily="34" charset="-120"/>
              </a:rPr>
              <a:t>(1 - (node_memory_MemAvailable_bytes / node_memory_MemTotal_bytes)) * 100</a:t>
            </a:r>
            <a:endParaRPr lang="en-US" sz="1200" dirty="0"/>
          </a:p>
        </p:txBody>
      </p:sp>
      <p:sp>
        <p:nvSpPr>
          <p:cNvPr id="5" name="Card"/>
          <p:cNvSpPr/>
          <p:nvPr/>
        </p:nvSpPr>
        <p:spPr>
          <a:xfrm>
            <a:off x="457200" y="2194560"/>
            <a:ext cx="1828800" cy="1783080"/>
          </a:xfrm>
          <a:prstGeom prst="roundRect">
            <a:avLst>
              <a:gd name="adj" fmla="val 5128"/>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6" name="Number badge"/>
          <p:cNvSpPr/>
          <p:nvPr/>
        </p:nvSpPr>
        <p:spPr>
          <a:xfrm>
            <a:off x="640080" y="2377440"/>
            <a:ext cx="411480" cy="411480"/>
          </a:xfrm>
          <a:prstGeom prst="ellipse">
            <a:avLst/>
          </a:prstGeom>
          <a:solidFill>
            <a:schemeClr val="accent2"/>
          </a:solidFill>
          <a:ln w="12700">
            <a:solidFill>
              <a:schemeClr val="accent2"/>
            </a:solidFill>
            <a:prstDash val="solid"/>
          </a:ln>
        </p:spPr>
      </p:sp>
      <p:sp>
        <p:nvSpPr>
          <p:cNvPr id="7" name="Text 5"/>
          <p:cNvSpPr txBox="1"/>
          <p:nvPr/>
        </p:nvSpPr>
        <p:spPr>
          <a:xfrm>
            <a:off x="640080" y="23774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Text 6"/>
          <p:cNvSpPr txBox="1"/>
          <p:nvPr/>
        </p:nvSpPr>
        <p:spPr>
          <a:xfrm>
            <a:off x="640080" y="2971800"/>
            <a:ext cx="1554480" cy="274320"/>
          </a:xfrm>
          <a:prstGeom prst="rect">
            <a:avLst/>
          </a:prstGeom>
          <a:noFill/>
          <a:ln/>
        </p:spPr>
        <p:txBody>
          <a:bodyPr wrap="square" lIns="0" tIns="0" rIns="0" bIns="0" rtlCol="0" anchor="t"/>
          <a:lstStyle/>
          <a:p>
            <a:pPr indent="0" marL="0">
              <a:buNone/>
            </a:pPr>
            <a:r>
              <a:rPr lang="en-US" sz="1500" b="1" dirty="0">
                <a:solidFill>
                  <a:schemeClr val="tx1"/>
                </a:solidFill>
              </a:rPr>
              <a:t>Available ÷ Total</a:t>
            </a:r>
            <a:endParaRPr lang="en-US" sz="1500" dirty="0"/>
          </a:p>
        </p:txBody>
      </p:sp>
      <p:sp>
        <p:nvSpPr>
          <p:cNvPr id="9" name="Text 7"/>
          <p:cNvSpPr txBox="1"/>
          <p:nvPr/>
        </p:nvSpPr>
        <p:spPr>
          <a:xfrm>
            <a:off x="640080" y="3291840"/>
            <a:ext cx="1508760" cy="594360"/>
          </a:xfrm>
          <a:prstGeom prst="rect">
            <a:avLst/>
          </a:prstGeom>
          <a:noFill/>
          <a:ln/>
        </p:spPr>
        <p:txBody>
          <a:bodyPr wrap="square" lIns="0" tIns="0" rIns="0" bIns="0" rtlCol="0" anchor="t"/>
          <a:lstStyle/>
          <a:p>
            <a:pPr indent="0" marL="0">
              <a:buNone/>
            </a:pPr>
            <a:r>
              <a:rPr lang="en-US" sz="1200" dirty="0">
                <a:solidFill>
                  <a:schemeClr val="accent5"/>
                </a:solidFill>
              </a:rPr>
              <a:t>Fraction of RAM still available</a:t>
            </a:r>
            <a:endParaRPr lang="en-US" sz="1200" dirty="0"/>
          </a:p>
        </p:txBody>
      </p:sp>
      <p:sp>
        <p:nvSpPr>
          <p:cNvPr id="10" name="Card"/>
          <p:cNvSpPr/>
          <p:nvPr/>
        </p:nvSpPr>
        <p:spPr>
          <a:xfrm>
            <a:off x="2423160" y="2194560"/>
            <a:ext cx="1828800" cy="1783080"/>
          </a:xfrm>
          <a:prstGeom prst="roundRect">
            <a:avLst>
              <a:gd name="adj" fmla="val 5128"/>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1" name="Number badge"/>
          <p:cNvSpPr/>
          <p:nvPr/>
        </p:nvSpPr>
        <p:spPr>
          <a:xfrm>
            <a:off x="2606040" y="2377440"/>
            <a:ext cx="411480" cy="411480"/>
          </a:xfrm>
          <a:prstGeom prst="ellipse">
            <a:avLst/>
          </a:prstGeom>
          <a:solidFill>
            <a:schemeClr val="accent2"/>
          </a:solidFill>
          <a:ln w="12700">
            <a:solidFill>
              <a:schemeClr val="accent2"/>
            </a:solidFill>
            <a:prstDash val="solid"/>
          </a:ln>
        </p:spPr>
      </p:sp>
      <p:sp>
        <p:nvSpPr>
          <p:cNvPr id="12" name="Text 10"/>
          <p:cNvSpPr txBox="1"/>
          <p:nvPr/>
        </p:nvSpPr>
        <p:spPr>
          <a:xfrm>
            <a:off x="2606040" y="23774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1"/>
          <p:cNvSpPr txBox="1"/>
          <p:nvPr/>
        </p:nvSpPr>
        <p:spPr>
          <a:xfrm>
            <a:off x="2606040" y="2971800"/>
            <a:ext cx="1554480" cy="274320"/>
          </a:xfrm>
          <a:prstGeom prst="rect">
            <a:avLst/>
          </a:prstGeom>
          <a:noFill/>
          <a:ln/>
        </p:spPr>
        <p:txBody>
          <a:bodyPr wrap="square" lIns="0" tIns="0" rIns="0" bIns="0" rtlCol="0" anchor="t"/>
          <a:lstStyle/>
          <a:p>
            <a:pPr indent="0" marL="0">
              <a:buNone/>
            </a:pPr>
            <a:r>
              <a:rPr lang="en-US" sz="1500" b="1" dirty="0">
                <a:solidFill>
                  <a:schemeClr val="tx1"/>
                </a:solidFill>
              </a:rPr>
              <a:t>1 − fraction</a:t>
            </a:r>
            <a:endParaRPr lang="en-US" sz="1500" dirty="0"/>
          </a:p>
        </p:txBody>
      </p:sp>
      <p:sp>
        <p:nvSpPr>
          <p:cNvPr id="14" name="Text 12"/>
          <p:cNvSpPr txBox="1"/>
          <p:nvPr/>
        </p:nvSpPr>
        <p:spPr>
          <a:xfrm>
            <a:off x="2606040" y="3291840"/>
            <a:ext cx="1508760" cy="594360"/>
          </a:xfrm>
          <a:prstGeom prst="rect">
            <a:avLst/>
          </a:prstGeom>
          <a:noFill/>
          <a:ln/>
        </p:spPr>
        <p:txBody>
          <a:bodyPr wrap="square" lIns="0" tIns="0" rIns="0" bIns="0" rtlCol="0" anchor="t"/>
          <a:lstStyle/>
          <a:p>
            <a:pPr indent="0" marL="0">
              <a:buNone/>
            </a:pPr>
            <a:r>
              <a:rPr lang="en-US" sz="1200" dirty="0">
                <a:solidFill>
                  <a:schemeClr val="accent5"/>
                </a:solidFill>
              </a:rPr>
              <a:t>Fraction of RAM that is in use</a:t>
            </a:r>
            <a:endParaRPr lang="en-US" sz="1200" dirty="0"/>
          </a:p>
        </p:txBody>
      </p:sp>
      <p:sp>
        <p:nvSpPr>
          <p:cNvPr id="15" name="Card"/>
          <p:cNvSpPr/>
          <p:nvPr/>
        </p:nvSpPr>
        <p:spPr>
          <a:xfrm>
            <a:off x="4389120" y="2194560"/>
            <a:ext cx="1828800" cy="1783080"/>
          </a:xfrm>
          <a:prstGeom prst="roundRect">
            <a:avLst>
              <a:gd name="adj" fmla="val 5128"/>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16" name="Number badge"/>
          <p:cNvSpPr/>
          <p:nvPr/>
        </p:nvSpPr>
        <p:spPr>
          <a:xfrm>
            <a:off x="4572000" y="2377440"/>
            <a:ext cx="411480" cy="411480"/>
          </a:xfrm>
          <a:prstGeom prst="ellipse">
            <a:avLst/>
          </a:prstGeom>
          <a:solidFill>
            <a:schemeClr val="accent2"/>
          </a:solidFill>
          <a:ln w="12700">
            <a:solidFill>
              <a:schemeClr val="accent2"/>
            </a:solidFill>
            <a:prstDash val="solid"/>
          </a:ln>
        </p:spPr>
      </p:sp>
      <p:sp>
        <p:nvSpPr>
          <p:cNvPr id="17" name="Text 15"/>
          <p:cNvSpPr txBox="1"/>
          <p:nvPr/>
        </p:nvSpPr>
        <p:spPr>
          <a:xfrm>
            <a:off x="4572000" y="23774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6"/>
          <p:cNvSpPr txBox="1"/>
          <p:nvPr/>
        </p:nvSpPr>
        <p:spPr>
          <a:xfrm>
            <a:off x="4572000" y="2971800"/>
            <a:ext cx="1554480" cy="274320"/>
          </a:xfrm>
          <a:prstGeom prst="rect">
            <a:avLst/>
          </a:prstGeom>
          <a:noFill/>
          <a:ln/>
        </p:spPr>
        <p:txBody>
          <a:bodyPr wrap="square" lIns="0" tIns="0" rIns="0" bIns="0" rtlCol="0" anchor="t"/>
          <a:lstStyle/>
          <a:p>
            <a:pPr indent="0" marL="0">
              <a:buNone/>
            </a:pPr>
            <a:r>
              <a:rPr lang="en-US" sz="1500" b="1" dirty="0">
                <a:solidFill>
                  <a:schemeClr val="tx1"/>
                </a:solidFill>
              </a:rPr>
              <a:t>× 100</a:t>
            </a:r>
            <a:endParaRPr lang="en-US" sz="1500" dirty="0"/>
          </a:p>
        </p:txBody>
      </p:sp>
      <p:sp>
        <p:nvSpPr>
          <p:cNvPr id="19" name="Text 17"/>
          <p:cNvSpPr txBox="1"/>
          <p:nvPr/>
        </p:nvSpPr>
        <p:spPr>
          <a:xfrm>
            <a:off x="4572000" y="3291840"/>
            <a:ext cx="1508760" cy="594360"/>
          </a:xfrm>
          <a:prstGeom prst="rect">
            <a:avLst/>
          </a:prstGeom>
          <a:noFill/>
          <a:ln/>
        </p:spPr>
        <p:txBody>
          <a:bodyPr wrap="square" lIns="0" tIns="0" rIns="0" bIns="0" rtlCol="0" anchor="t"/>
          <a:lstStyle/>
          <a:p>
            <a:pPr indent="0" marL="0">
              <a:buNone/>
            </a:pPr>
            <a:r>
              <a:rPr lang="en-US" sz="1200" dirty="0">
                <a:solidFill>
                  <a:schemeClr val="accent5"/>
                </a:solidFill>
              </a:rPr>
              <a:t>Converted to a percentage</a:t>
            </a:r>
            <a:endParaRPr lang="en-US" sz="1200" dirty="0"/>
          </a:p>
        </p:txBody>
      </p:sp>
      <p:sp>
        <p:nvSpPr>
          <p:cNvPr id="20" name="Card"/>
          <p:cNvSpPr/>
          <p:nvPr/>
        </p:nvSpPr>
        <p:spPr>
          <a:xfrm>
            <a:off x="6400800" y="2194560"/>
            <a:ext cx="2286000" cy="1783080"/>
          </a:xfrm>
          <a:prstGeom prst="roundRect">
            <a:avLst>
              <a:gd name="adj" fmla="val 5128"/>
            </a:avLst>
          </a:prstGeom>
          <a:solidFill>
            <a:schemeClr val="tx1"/>
          </a:solidFill>
          <a:ln w="12700">
            <a:solidFill>
              <a:schemeClr val="tx1"/>
            </a:solidFill>
            <a:prstDash val="solid"/>
          </a:ln>
          <a:effectLst>
            <a:outerShdw sx="100000" sy="100000" kx="0" ky="0" algn="bl" rotWithShape="0" blurRad="76200" dist="25400" dir="5400000">
              <a:srgbClr val="000000">
                <a:alpha val="10000"/>
              </a:srgbClr>
            </a:outerShdw>
          </a:effectLst>
        </p:spPr>
      </p:sp>
      <p:sp>
        <p:nvSpPr>
          <p:cNvPr id="21" name="Text 19"/>
          <p:cNvSpPr txBox="1"/>
          <p:nvPr/>
        </p:nvSpPr>
        <p:spPr>
          <a:xfrm>
            <a:off x="6400800" y="2331720"/>
            <a:ext cx="2286000" cy="914400"/>
          </a:xfrm>
          <a:prstGeom prst="rect">
            <a:avLst/>
          </a:prstGeom>
          <a:noFill/>
          <a:ln/>
        </p:spPr>
        <p:txBody>
          <a:bodyPr wrap="square" lIns="0" tIns="0" rIns="0" bIns="0" rtlCol="0" anchor="ctr"/>
          <a:lstStyle/>
          <a:p>
            <a:pPr algn="ctr" indent="0" marL="0">
              <a:buNone/>
            </a:pPr>
            <a:r>
              <a:rPr lang="en-US" sz="5400" b="1" dirty="0">
                <a:solidFill>
                  <a:schemeClr val="accent3"/>
                </a:solidFill>
                <a:latin typeface="Cambria" pitchFamily="34" charset="0"/>
                <a:ea typeface="Cambria" pitchFamily="34" charset="-122"/>
                <a:cs typeface="Cambria" pitchFamily="34" charset="-120"/>
              </a:rPr>
              <a:t>65%</a:t>
            </a:r>
            <a:endParaRPr lang="en-US" sz="5400" dirty="0"/>
          </a:p>
        </p:txBody>
      </p:sp>
      <p:sp>
        <p:nvSpPr>
          <p:cNvPr id="22" name="Text 20"/>
          <p:cNvSpPr txBox="1"/>
          <p:nvPr/>
        </p:nvSpPr>
        <p:spPr>
          <a:xfrm>
            <a:off x="6400800" y="3291840"/>
            <a:ext cx="2286000" cy="365760"/>
          </a:xfrm>
          <a:prstGeom prst="rect">
            <a:avLst/>
          </a:prstGeom>
          <a:noFill/>
          <a:ln/>
        </p:spPr>
        <p:txBody>
          <a:bodyPr wrap="square" lIns="0" tIns="0" rIns="0" bIns="0" rtlCol="0" anchor="t"/>
          <a:lstStyle/>
          <a:p>
            <a:pPr algn="ctr" indent="0" marL="0">
              <a:buNone/>
            </a:pPr>
            <a:r>
              <a:rPr lang="en-US" sz="1200" dirty="0">
                <a:solidFill>
                  <a:schemeClr val="accent6"/>
                </a:solidFill>
              </a:rPr>
              <a:t>memory used (example)</a:t>
            </a:r>
            <a:endParaRPr lang="en-US" sz="1200" dirty="0"/>
          </a:p>
        </p:txBody>
      </p:sp>
      <p:sp>
        <p:nvSpPr>
          <p:cNvPr id="23" name="Text 21"/>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400" dirty="0">
                <a:solidFill>
                  <a:schemeClr val="accent5"/>
                </a:solidFill>
              </a:rPr>
              <a:t>Low CPU can still mean high memory use, so monitor both.</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Monitoring Data Flow</a:t>
            </a:r>
            <a:endParaRPr lang="en-US" sz="3400" dirty="0"/>
          </a:p>
        </p:txBody>
      </p:sp>
      <p:sp>
        <p:nvSpPr>
          <p:cNvPr id="3" name="Text 1"/>
          <p:cNvSpPr txBox="1"/>
          <p:nvPr/>
        </p:nvSpPr>
        <p:spPr>
          <a:xfrm>
            <a:off x="457200" y="1188720"/>
            <a:ext cx="4572000" cy="320040"/>
          </a:xfrm>
          <a:prstGeom prst="rect">
            <a:avLst/>
          </a:prstGeom>
          <a:noFill/>
          <a:ln/>
        </p:spPr>
        <p:txBody>
          <a:bodyPr wrap="square" lIns="0" tIns="0" rIns="0" bIns="0" rtlCol="0" anchor="t"/>
          <a:lstStyle/>
          <a:p>
            <a:pPr indent="0" marL="0">
              <a:buNone/>
            </a:pPr>
            <a:r>
              <a:rPr lang="en-US" sz="1600" b="1" dirty="0">
                <a:solidFill>
                  <a:schemeClr val="accent3"/>
                </a:solidFill>
              </a:rPr>
              <a:t>CloudWatch flow</a:t>
            </a:r>
            <a:endParaRPr lang="en-US" sz="1600" dirty="0"/>
          </a:p>
        </p:txBody>
      </p:sp>
      <p:sp>
        <p:nvSpPr>
          <p:cNvPr id="4" name="Card"/>
          <p:cNvSpPr/>
          <p:nvPr/>
        </p:nvSpPr>
        <p:spPr>
          <a:xfrm>
            <a:off x="548640" y="1554480"/>
            <a:ext cx="1737360" cy="731520"/>
          </a:xfrm>
          <a:prstGeom prst="roundRect">
            <a:avLst>
              <a:gd name="adj" fmla="val 12500"/>
            </a:avLst>
          </a:prstGeom>
          <a:solidFill>
            <a:schemeClr val="accent3"/>
          </a:solidFill>
          <a:ln w="12700">
            <a:solidFill>
              <a:schemeClr val="accent3"/>
            </a:solidFill>
            <a:prstDash val="solid"/>
          </a:ln>
          <a:effectLst>
            <a:outerShdw sx="100000" sy="100000" kx="0" ky="0" algn="bl" rotWithShape="0" blurRad="76200" dist="25400" dir="5400000">
              <a:srgbClr val="000000">
                <a:alpha val="10000"/>
              </a:srgbClr>
            </a:outerShdw>
          </a:effectLst>
        </p:spPr>
      </p:sp>
      <p:sp>
        <p:nvSpPr>
          <p:cNvPr id="5" name="Text 3"/>
          <p:cNvSpPr txBox="1"/>
          <p:nvPr/>
        </p:nvSpPr>
        <p:spPr>
          <a:xfrm>
            <a:off x="548640" y="1554480"/>
            <a:ext cx="1737360" cy="731520"/>
          </a:xfrm>
          <a:prstGeom prst="rect">
            <a:avLst/>
          </a:prstGeom>
          <a:noFill/>
          <a:ln/>
        </p:spPr>
        <p:txBody>
          <a:bodyPr wrap="square" lIns="0" tIns="0" rIns="0" bIns="0" rtlCol="0" anchor="ctr"/>
          <a:lstStyle/>
          <a:p>
            <a:pPr algn="ctr" indent="0" marL="0">
              <a:buNone/>
            </a:pPr>
            <a:r>
              <a:rPr lang="en-US" sz="1400" b="1" dirty="0">
                <a:solidFill>
                  <a:schemeClr val="tx1"/>
                </a:solidFill>
              </a:rPr>
              <a:t>AWS EC2</a:t>
            </a:r>
            <a:endParaRPr lang="en-US" sz="1400" dirty="0"/>
          </a:p>
        </p:txBody>
      </p:sp>
      <p:pic>
        <p:nvPicPr>
          <p:cNvPr id="6" name="Image 0" descr="next">    </p:cNvPr>
          <p:cNvPicPr>
            <a:picLocks noChangeAspect="1"/>
          </p:cNvPicPr>
          <p:nvPr/>
        </p:nvPicPr>
        <p:blipFill>
          <a:blip r:embed="rId1"/>
          <a:stretch>
            <a:fillRect/>
          </a:stretch>
        </p:blipFill>
        <p:spPr>
          <a:xfrm>
            <a:off x="2377440" y="1737360"/>
            <a:ext cx="274320" cy="365760"/>
          </a:xfrm>
          <a:prstGeom prst="rect">
            <a:avLst/>
          </a:prstGeom>
        </p:spPr>
      </p:pic>
      <p:sp>
        <p:nvSpPr>
          <p:cNvPr id="7" name="Card"/>
          <p:cNvSpPr/>
          <p:nvPr/>
        </p:nvSpPr>
        <p:spPr>
          <a:xfrm>
            <a:off x="2651760" y="1554480"/>
            <a:ext cx="1737360" cy="731520"/>
          </a:xfrm>
          <a:prstGeom prst="roundRect">
            <a:avLst>
              <a:gd name="adj" fmla="val 12500"/>
            </a:avLst>
          </a:prstGeom>
          <a:solidFill>
            <a:schemeClr val="accent3"/>
          </a:solidFill>
          <a:ln w="12700">
            <a:solidFill>
              <a:schemeClr val="accent3"/>
            </a:solidFill>
            <a:prstDash val="solid"/>
          </a:ln>
          <a:effectLst>
            <a:outerShdw sx="100000" sy="100000" kx="0" ky="0" algn="bl" rotWithShape="0" blurRad="76200" dist="25400" dir="5400000">
              <a:srgbClr val="000000">
                <a:alpha val="10000"/>
              </a:srgbClr>
            </a:outerShdw>
          </a:effectLst>
        </p:spPr>
      </p:sp>
      <p:sp>
        <p:nvSpPr>
          <p:cNvPr id="8" name="Text 5"/>
          <p:cNvSpPr txBox="1"/>
          <p:nvPr/>
        </p:nvSpPr>
        <p:spPr>
          <a:xfrm>
            <a:off x="2651760" y="1554480"/>
            <a:ext cx="1737360" cy="731520"/>
          </a:xfrm>
          <a:prstGeom prst="rect">
            <a:avLst/>
          </a:prstGeom>
          <a:noFill/>
          <a:ln/>
        </p:spPr>
        <p:txBody>
          <a:bodyPr wrap="square" lIns="0" tIns="0" rIns="0" bIns="0" rtlCol="0" anchor="ctr"/>
          <a:lstStyle/>
          <a:p>
            <a:pPr algn="ctr" indent="0" marL="0">
              <a:buNone/>
            </a:pPr>
            <a:r>
              <a:rPr lang="en-US" sz="1400" b="1" dirty="0">
                <a:solidFill>
                  <a:schemeClr val="tx1"/>
                </a:solidFill>
              </a:rPr>
              <a:t>CloudWatch</a:t>
            </a:r>
            <a:endParaRPr lang="en-US" sz="1400" dirty="0"/>
          </a:p>
        </p:txBody>
      </p:sp>
      <p:pic>
        <p:nvPicPr>
          <p:cNvPr id="9" name="Image 1" descr="next">    </p:cNvPr>
          <p:cNvPicPr>
            <a:picLocks noChangeAspect="1"/>
          </p:cNvPicPr>
          <p:nvPr/>
        </p:nvPicPr>
        <p:blipFill>
          <a:blip r:embed="rId2"/>
          <a:stretch>
            <a:fillRect/>
          </a:stretch>
        </p:blipFill>
        <p:spPr>
          <a:xfrm>
            <a:off x="4480560" y="1737360"/>
            <a:ext cx="274320" cy="365760"/>
          </a:xfrm>
          <a:prstGeom prst="rect">
            <a:avLst/>
          </a:prstGeom>
        </p:spPr>
      </p:pic>
      <p:sp>
        <p:nvSpPr>
          <p:cNvPr id="10" name="Card"/>
          <p:cNvSpPr/>
          <p:nvPr/>
        </p:nvSpPr>
        <p:spPr>
          <a:xfrm>
            <a:off x="4754880" y="1554480"/>
            <a:ext cx="1737360" cy="731520"/>
          </a:xfrm>
          <a:prstGeom prst="roundRect">
            <a:avLst>
              <a:gd name="adj" fmla="val 12500"/>
            </a:avLst>
          </a:prstGeom>
          <a:solidFill>
            <a:schemeClr val="accent3"/>
          </a:solidFill>
          <a:ln w="12700">
            <a:solidFill>
              <a:schemeClr val="accent3"/>
            </a:solidFill>
            <a:prstDash val="solid"/>
          </a:ln>
          <a:effectLst>
            <a:outerShdw sx="100000" sy="100000" kx="0" ky="0" algn="bl" rotWithShape="0" blurRad="76200" dist="25400" dir="5400000">
              <a:srgbClr val="000000">
                <a:alpha val="10000"/>
              </a:srgbClr>
            </a:outerShdw>
          </a:effectLst>
        </p:spPr>
      </p:sp>
      <p:sp>
        <p:nvSpPr>
          <p:cNvPr id="11" name="Text 7"/>
          <p:cNvSpPr txBox="1"/>
          <p:nvPr/>
        </p:nvSpPr>
        <p:spPr>
          <a:xfrm>
            <a:off x="4754880" y="1554480"/>
            <a:ext cx="1737360" cy="731520"/>
          </a:xfrm>
          <a:prstGeom prst="rect">
            <a:avLst/>
          </a:prstGeom>
          <a:noFill/>
          <a:ln/>
        </p:spPr>
        <p:txBody>
          <a:bodyPr wrap="square" lIns="0" tIns="0" rIns="0" bIns="0" rtlCol="0" anchor="ctr"/>
          <a:lstStyle/>
          <a:p>
            <a:pPr algn="ctr" indent="0" marL="0">
              <a:buNone/>
            </a:pPr>
            <a:r>
              <a:rPr lang="en-US" sz="1400" b="1" dirty="0">
                <a:solidFill>
                  <a:schemeClr val="tx1"/>
                </a:solidFill>
              </a:rPr>
              <a:t>CPU, network, status</a:t>
            </a:r>
            <a:endParaRPr lang="en-US" sz="1400" dirty="0"/>
          </a:p>
        </p:txBody>
      </p:sp>
      <p:pic>
        <p:nvPicPr>
          <p:cNvPr id="12" name="Image 2" descr="next">    </p:cNvPr>
          <p:cNvPicPr>
            <a:picLocks noChangeAspect="1"/>
          </p:cNvPicPr>
          <p:nvPr/>
        </p:nvPicPr>
        <p:blipFill>
          <a:blip r:embed="rId3"/>
          <a:stretch>
            <a:fillRect/>
          </a:stretch>
        </p:blipFill>
        <p:spPr>
          <a:xfrm>
            <a:off x="6583680" y="1737360"/>
            <a:ext cx="274320" cy="365760"/>
          </a:xfrm>
          <a:prstGeom prst="rect">
            <a:avLst/>
          </a:prstGeom>
        </p:spPr>
      </p:pic>
      <p:sp>
        <p:nvSpPr>
          <p:cNvPr id="13" name="Card"/>
          <p:cNvSpPr/>
          <p:nvPr/>
        </p:nvSpPr>
        <p:spPr>
          <a:xfrm>
            <a:off x="6858000" y="1554480"/>
            <a:ext cx="1737360" cy="731520"/>
          </a:xfrm>
          <a:prstGeom prst="roundRect">
            <a:avLst>
              <a:gd name="adj" fmla="val 12500"/>
            </a:avLst>
          </a:prstGeom>
          <a:solidFill>
            <a:schemeClr val="accent3"/>
          </a:solidFill>
          <a:ln w="12700">
            <a:solidFill>
              <a:schemeClr val="accent3"/>
            </a:solidFill>
            <a:prstDash val="solid"/>
          </a:ln>
          <a:effectLst>
            <a:outerShdw sx="100000" sy="100000" kx="0" ky="0" algn="bl" rotWithShape="0" blurRad="76200" dist="25400" dir="5400000">
              <a:srgbClr val="000000">
                <a:alpha val="10000"/>
              </a:srgbClr>
            </a:outerShdw>
          </a:effectLst>
        </p:spPr>
      </p:sp>
      <p:sp>
        <p:nvSpPr>
          <p:cNvPr id="14" name="Text 9"/>
          <p:cNvSpPr txBox="1"/>
          <p:nvPr/>
        </p:nvSpPr>
        <p:spPr>
          <a:xfrm>
            <a:off x="6858000" y="1554480"/>
            <a:ext cx="1737360" cy="731520"/>
          </a:xfrm>
          <a:prstGeom prst="rect">
            <a:avLst/>
          </a:prstGeom>
          <a:noFill/>
          <a:ln/>
        </p:spPr>
        <p:txBody>
          <a:bodyPr wrap="square" lIns="0" tIns="0" rIns="0" bIns="0" rtlCol="0" anchor="ctr"/>
          <a:lstStyle/>
          <a:p>
            <a:pPr algn="ctr" indent="0" marL="0">
              <a:buNone/>
            </a:pPr>
            <a:r>
              <a:rPr lang="en-US" sz="1400" b="1" dirty="0">
                <a:solidFill>
                  <a:schemeClr val="tx1"/>
                </a:solidFill>
              </a:rPr>
              <a:t>AWS Console</a:t>
            </a:r>
            <a:endParaRPr lang="en-US" sz="1400" dirty="0"/>
          </a:p>
        </p:txBody>
      </p:sp>
      <p:sp>
        <p:nvSpPr>
          <p:cNvPr id="15" name="Text 10"/>
          <p:cNvSpPr txBox="1"/>
          <p:nvPr/>
        </p:nvSpPr>
        <p:spPr>
          <a:xfrm>
            <a:off x="457200" y="2514600"/>
            <a:ext cx="5486400" cy="320040"/>
          </a:xfrm>
          <a:prstGeom prst="rect">
            <a:avLst/>
          </a:prstGeom>
          <a:noFill/>
          <a:ln/>
        </p:spPr>
        <p:txBody>
          <a:bodyPr wrap="square" lIns="0" tIns="0" rIns="0" bIns="0" rtlCol="0" anchor="t"/>
          <a:lstStyle/>
          <a:p>
            <a:pPr indent="0" marL="0">
              <a:buNone/>
            </a:pPr>
            <a:r>
              <a:rPr lang="en-US" sz="1600" b="1" dirty="0">
                <a:solidFill>
                  <a:schemeClr val="accent1"/>
                </a:solidFill>
              </a:rPr>
              <a:t>Prometheus &amp; Grafana flow</a:t>
            </a:r>
            <a:endParaRPr lang="en-US" sz="1600" dirty="0"/>
          </a:p>
        </p:txBody>
      </p:sp>
      <p:sp>
        <p:nvSpPr>
          <p:cNvPr id="16" name="Card"/>
          <p:cNvSpPr/>
          <p:nvPr/>
        </p:nvSpPr>
        <p:spPr>
          <a:xfrm>
            <a:off x="457200" y="2880360"/>
            <a:ext cx="1417320" cy="960120"/>
          </a:xfrm>
          <a:prstGeom prst="roundRect">
            <a:avLst>
              <a:gd name="adj" fmla="val 9524"/>
            </a:avLst>
          </a:prstGeom>
          <a:solidFill>
            <a:schemeClr val="accent1"/>
          </a:solidFill>
          <a:ln w="12700">
            <a:solidFill>
              <a:schemeClr val="accent1"/>
            </a:solidFill>
            <a:prstDash val="solid"/>
          </a:ln>
          <a:effectLst>
            <a:outerShdw sx="100000" sy="100000" kx="0" ky="0" algn="bl" rotWithShape="0" blurRad="76200" dist="25400" dir="5400000">
              <a:srgbClr val="000000">
                <a:alpha val="10000"/>
              </a:srgbClr>
            </a:outerShdw>
          </a:effectLst>
        </p:spPr>
      </p:sp>
      <p:sp>
        <p:nvSpPr>
          <p:cNvPr id="17" name="Text 12"/>
          <p:cNvSpPr txBox="1"/>
          <p:nvPr/>
        </p:nvSpPr>
        <p:spPr>
          <a:xfrm>
            <a:off x="530352" y="2880360"/>
            <a:ext cx="1271016" cy="960120"/>
          </a:xfrm>
          <a:prstGeom prst="rect">
            <a:avLst/>
          </a:prstGeom>
          <a:noFill/>
          <a:ln/>
        </p:spPr>
        <p:txBody>
          <a:bodyPr wrap="square" lIns="0" tIns="0" rIns="0" bIns="0" rtlCol="0" anchor="ctr"/>
          <a:lstStyle/>
          <a:p>
            <a:pPr algn="ctr" indent="0" marL="0">
              <a:buNone/>
            </a:pPr>
            <a:r>
              <a:rPr lang="en-US" sz="1400" b="1" dirty="0">
                <a:solidFill>
                  <a:schemeClr val="bg1"/>
                </a:solidFill>
              </a:rPr>
              <a:t>Ubuntu Linux</a:t>
            </a:r>
            <a:endParaRPr lang="en-US" sz="1400" dirty="0"/>
          </a:p>
          <a:p>
            <a:pPr algn="ctr" indent="0" marL="0">
              <a:buNone/>
            </a:pPr>
            <a:r>
              <a:rPr lang="en-US" sz="1200" dirty="0">
                <a:solidFill>
                  <a:schemeClr val="bg1"/>
                </a:solidFill>
              </a:rPr>
              <a:t>Host system</a:t>
            </a:r>
            <a:endParaRPr lang="en-US" sz="1400" dirty="0"/>
          </a:p>
        </p:txBody>
      </p:sp>
      <p:pic>
        <p:nvPicPr>
          <p:cNvPr id="18" name="Image 3" descr="next">    </p:cNvPr>
          <p:cNvPicPr>
            <a:picLocks noChangeAspect="1"/>
          </p:cNvPicPr>
          <p:nvPr/>
        </p:nvPicPr>
        <p:blipFill>
          <a:blip r:embed="rId4"/>
          <a:stretch>
            <a:fillRect/>
          </a:stretch>
        </p:blipFill>
        <p:spPr>
          <a:xfrm>
            <a:off x="1920240" y="3200400"/>
            <a:ext cx="182880" cy="320040"/>
          </a:xfrm>
          <a:prstGeom prst="rect">
            <a:avLst/>
          </a:prstGeom>
        </p:spPr>
      </p:pic>
      <p:sp>
        <p:nvSpPr>
          <p:cNvPr id="19" name="Card"/>
          <p:cNvSpPr/>
          <p:nvPr/>
        </p:nvSpPr>
        <p:spPr>
          <a:xfrm>
            <a:off x="2148840" y="2880360"/>
            <a:ext cx="1417320" cy="960120"/>
          </a:xfrm>
          <a:prstGeom prst="roundRect">
            <a:avLst>
              <a:gd name="adj" fmla="val 9524"/>
            </a:avLst>
          </a:prstGeom>
          <a:solidFill>
            <a:schemeClr val="accent1"/>
          </a:solidFill>
          <a:ln w="12700">
            <a:solidFill>
              <a:schemeClr val="accent1"/>
            </a:solidFill>
            <a:prstDash val="solid"/>
          </a:ln>
          <a:effectLst>
            <a:outerShdw sx="100000" sy="100000" kx="0" ky="0" algn="bl" rotWithShape="0" blurRad="76200" dist="25400" dir="5400000">
              <a:srgbClr val="000000">
                <a:alpha val="10000"/>
              </a:srgbClr>
            </a:outerShdw>
          </a:effectLst>
        </p:spPr>
      </p:sp>
      <p:sp>
        <p:nvSpPr>
          <p:cNvPr id="20" name="Text 14"/>
          <p:cNvSpPr txBox="1"/>
          <p:nvPr/>
        </p:nvSpPr>
        <p:spPr>
          <a:xfrm>
            <a:off x="2221992" y="2880360"/>
            <a:ext cx="1271016" cy="960120"/>
          </a:xfrm>
          <a:prstGeom prst="rect">
            <a:avLst/>
          </a:prstGeom>
          <a:noFill/>
          <a:ln/>
        </p:spPr>
        <p:txBody>
          <a:bodyPr wrap="square" lIns="0" tIns="0" rIns="0" bIns="0" rtlCol="0" anchor="ctr"/>
          <a:lstStyle/>
          <a:p>
            <a:pPr algn="ctr" indent="0" marL="0">
              <a:buNone/>
            </a:pPr>
            <a:r>
              <a:rPr lang="en-US" sz="1400" b="1" dirty="0">
                <a:solidFill>
                  <a:schemeClr val="bg1"/>
                </a:solidFill>
              </a:rPr>
              <a:t>Node Exporter</a:t>
            </a:r>
            <a:endParaRPr lang="en-US" sz="1400" dirty="0"/>
          </a:p>
          <a:p>
            <a:pPr algn="ctr" indent="0" marL="0">
              <a:buNone/>
            </a:pPr>
            <a:r>
              <a:rPr lang="en-US" sz="1200" dirty="0">
                <a:solidFill>
                  <a:schemeClr val="bg1"/>
                </a:solidFill>
              </a:rPr>
              <a:t>Exposes metrics over HTTP</a:t>
            </a:r>
            <a:endParaRPr lang="en-US" sz="1400" dirty="0"/>
          </a:p>
        </p:txBody>
      </p:sp>
      <p:pic>
        <p:nvPicPr>
          <p:cNvPr id="21" name="Image 4" descr="next">    </p:cNvPr>
          <p:cNvPicPr>
            <a:picLocks noChangeAspect="1"/>
          </p:cNvPicPr>
          <p:nvPr/>
        </p:nvPicPr>
        <p:blipFill>
          <a:blip r:embed="rId5"/>
          <a:stretch>
            <a:fillRect/>
          </a:stretch>
        </p:blipFill>
        <p:spPr>
          <a:xfrm>
            <a:off x="3611880" y="3200400"/>
            <a:ext cx="182880" cy="320040"/>
          </a:xfrm>
          <a:prstGeom prst="rect">
            <a:avLst/>
          </a:prstGeom>
        </p:spPr>
      </p:pic>
      <p:sp>
        <p:nvSpPr>
          <p:cNvPr id="22" name="Card"/>
          <p:cNvSpPr/>
          <p:nvPr/>
        </p:nvSpPr>
        <p:spPr>
          <a:xfrm>
            <a:off x="3840480" y="2880360"/>
            <a:ext cx="1417320" cy="960120"/>
          </a:xfrm>
          <a:prstGeom prst="roundRect">
            <a:avLst>
              <a:gd name="adj" fmla="val 9524"/>
            </a:avLst>
          </a:prstGeom>
          <a:solidFill>
            <a:schemeClr val="accent1"/>
          </a:solidFill>
          <a:ln w="12700">
            <a:solidFill>
              <a:schemeClr val="accent1"/>
            </a:solidFill>
            <a:prstDash val="solid"/>
          </a:ln>
          <a:effectLst>
            <a:outerShdw sx="100000" sy="100000" kx="0" ky="0" algn="bl" rotWithShape="0" blurRad="76200" dist="25400" dir="5400000">
              <a:srgbClr val="000000">
                <a:alpha val="10000"/>
              </a:srgbClr>
            </a:outerShdw>
          </a:effectLst>
        </p:spPr>
      </p:sp>
      <p:sp>
        <p:nvSpPr>
          <p:cNvPr id="23" name="Text 16"/>
          <p:cNvSpPr txBox="1"/>
          <p:nvPr/>
        </p:nvSpPr>
        <p:spPr>
          <a:xfrm>
            <a:off x="3913632" y="2880360"/>
            <a:ext cx="1271016" cy="960120"/>
          </a:xfrm>
          <a:prstGeom prst="rect">
            <a:avLst/>
          </a:prstGeom>
          <a:noFill/>
          <a:ln/>
        </p:spPr>
        <p:txBody>
          <a:bodyPr wrap="square" lIns="0" tIns="0" rIns="0" bIns="0" rtlCol="0" anchor="ctr"/>
          <a:lstStyle/>
          <a:p>
            <a:pPr algn="ctr" indent="0" marL="0">
              <a:buNone/>
            </a:pPr>
            <a:r>
              <a:rPr lang="en-US" sz="1400" b="1" dirty="0">
                <a:solidFill>
                  <a:schemeClr val="bg1"/>
                </a:solidFill>
              </a:rPr>
              <a:t>Prometheus</a:t>
            </a:r>
            <a:endParaRPr lang="en-US" sz="1400" dirty="0"/>
          </a:p>
          <a:p>
            <a:pPr algn="ctr" indent="0" marL="0">
              <a:buNone/>
            </a:pPr>
            <a:r>
              <a:rPr lang="en-US" sz="1200" dirty="0">
                <a:solidFill>
                  <a:schemeClr val="bg1"/>
                </a:solidFill>
              </a:rPr>
              <a:t>Stores time series</a:t>
            </a:r>
            <a:endParaRPr lang="en-US" sz="1400" dirty="0"/>
          </a:p>
        </p:txBody>
      </p:sp>
      <p:pic>
        <p:nvPicPr>
          <p:cNvPr id="24" name="Image 5" descr="next">    </p:cNvPr>
          <p:cNvPicPr>
            <a:picLocks noChangeAspect="1"/>
          </p:cNvPicPr>
          <p:nvPr/>
        </p:nvPicPr>
        <p:blipFill>
          <a:blip r:embed="rId6"/>
          <a:stretch>
            <a:fillRect/>
          </a:stretch>
        </p:blipFill>
        <p:spPr>
          <a:xfrm>
            <a:off x="5303520" y="3200400"/>
            <a:ext cx="182880" cy="320040"/>
          </a:xfrm>
          <a:prstGeom prst="rect">
            <a:avLst/>
          </a:prstGeom>
        </p:spPr>
      </p:pic>
      <p:sp>
        <p:nvSpPr>
          <p:cNvPr id="25" name="Card"/>
          <p:cNvSpPr/>
          <p:nvPr/>
        </p:nvSpPr>
        <p:spPr>
          <a:xfrm>
            <a:off x="5532120" y="2880360"/>
            <a:ext cx="1417320" cy="960120"/>
          </a:xfrm>
          <a:prstGeom prst="roundRect">
            <a:avLst>
              <a:gd name="adj" fmla="val 9524"/>
            </a:avLst>
          </a:prstGeom>
          <a:solidFill>
            <a:schemeClr val="accent1"/>
          </a:solidFill>
          <a:ln w="12700">
            <a:solidFill>
              <a:schemeClr val="accent1"/>
            </a:solidFill>
            <a:prstDash val="solid"/>
          </a:ln>
          <a:effectLst>
            <a:outerShdw sx="100000" sy="100000" kx="0" ky="0" algn="bl" rotWithShape="0" blurRad="76200" dist="25400" dir="5400000">
              <a:srgbClr val="000000">
                <a:alpha val="10000"/>
              </a:srgbClr>
            </a:outerShdw>
          </a:effectLst>
        </p:spPr>
      </p:sp>
      <p:sp>
        <p:nvSpPr>
          <p:cNvPr id="26" name="Text 18"/>
          <p:cNvSpPr txBox="1"/>
          <p:nvPr/>
        </p:nvSpPr>
        <p:spPr>
          <a:xfrm>
            <a:off x="5605272" y="2880360"/>
            <a:ext cx="1271016" cy="960120"/>
          </a:xfrm>
          <a:prstGeom prst="rect">
            <a:avLst/>
          </a:prstGeom>
          <a:noFill/>
          <a:ln/>
        </p:spPr>
        <p:txBody>
          <a:bodyPr wrap="square" lIns="0" tIns="0" rIns="0" bIns="0" rtlCol="0" anchor="ctr"/>
          <a:lstStyle/>
          <a:p>
            <a:pPr algn="ctr" indent="0" marL="0">
              <a:buNone/>
            </a:pPr>
            <a:r>
              <a:rPr lang="en-US" sz="1400" b="1" dirty="0">
                <a:solidFill>
                  <a:schemeClr val="bg1"/>
                </a:solidFill>
              </a:rPr>
              <a:t>Grafana</a:t>
            </a:r>
            <a:endParaRPr lang="en-US" sz="1400" dirty="0"/>
          </a:p>
          <a:p>
            <a:pPr algn="ctr" indent="0" marL="0">
              <a:buNone/>
            </a:pPr>
            <a:r>
              <a:rPr lang="en-US" sz="1200" dirty="0">
                <a:solidFill>
                  <a:schemeClr val="bg1"/>
                </a:solidFill>
              </a:rPr>
              <a:t>Runs PromQL queries</a:t>
            </a:r>
            <a:endParaRPr lang="en-US" sz="1400" dirty="0"/>
          </a:p>
        </p:txBody>
      </p:sp>
      <p:pic>
        <p:nvPicPr>
          <p:cNvPr id="27" name="Image 6" descr="next">    </p:cNvPr>
          <p:cNvPicPr>
            <a:picLocks noChangeAspect="1"/>
          </p:cNvPicPr>
          <p:nvPr/>
        </p:nvPicPr>
        <p:blipFill>
          <a:blip r:embed="rId7"/>
          <a:stretch>
            <a:fillRect/>
          </a:stretch>
        </p:blipFill>
        <p:spPr>
          <a:xfrm>
            <a:off x="6995160" y="3200400"/>
            <a:ext cx="182880" cy="320040"/>
          </a:xfrm>
          <a:prstGeom prst="rect">
            <a:avLst/>
          </a:prstGeom>
        </p:spPr>
      </p:pic>
      <p:sp>
        <p:nvSpPr>
          <p:cNvPr id="28" name="Card"/>
          <p:cNvSpPr/>
          <p:nvPr/>
        </p:nvSpPr>
        <p:spPr>
          <a:xfrm>
            <a:off x="7223760" y="2880360"/>
            <a:ext cx="1417320" cy="960120"/>
          </a:xfrm>
          <a:prstGeom prst="roundRect">
            <a:avLst>
              <a:gd name="adj" fmla="val 9524"/>
            </a:avLst>
          </a:prstGeom>
          <a:solidFill>
            <a:schemeClr val="accent1"/>
          </a:solidFill>
          <a:ln w="12700">
            <a:solidFill>
              <a:schemeClr val="accent1"/>
            </a:solidFill>
            <a:prstDash val="solid"/>
          </a:ln>
          <a:effectLst>
            <a:outerShdw sx="100000" sy="100000" kx="0" ky="0" algn="bl" rotWithShape="0" blurRad="76200" dist="25400" dir="5400000">
              <a:srgbClr val="000000">
                <a:alpha val="10000"/>
              </a:srgbClr>
            </a:outerShdw>
          </a:effectLst>
        </p:spPr>
      </p:sp>
      <p:sp>
        <p:nvSpPr>
          <p:cNvPr id="29" name="Text 20"/>
          <p:cNvSpPr txBox="1"/>
          <p:nvPr/>
        </p:nvSpPr>
        <p:spPr>
          <a:xfrm>
            <a:off x="7296912" y="2880360"/>
            <a:ext cx="1271016" cy="960120"/>
          </a:xfrm>
          <a:prstGeom prst="rect">
            <a:avLst/>
          </a:prstGeom>
          <a:noFill/>
          <a:ln/>
        </p:spPr>
        <p:txBody>
          <a:bodyPr wrap="square" lIns="0" tIns="0" rIns="0" bIns="0" rtlCol="0" anchor="ctr"/>
          <a:lstStyle/>
          <a:p>
            <a:pPr algn="ctr" indent="0" marL="0">
              <a:buNone/>
            </a:pPr>
            <a:r>
              <a:rPr lang="en-US" sz="1400" b="1" dirty="0">
                <a:solidFill>
                  <a:schemeClr val="bg1"/>
                </a:solidFill>
              </a:rPr>
              <a:t>Dashboard</a:t>
            </a:r>
            <a:endParaRPr lang="en-US" sz="1400" dirty="0"/>
          </a:p>
          <a:p>
            <a:pPr algn="ctr" indent="0" marL="0">
              <a:buNone/>
            </a:pPr>
            <a:r>
              <a:rPr lang="en-US" sz="1200" dirty="0">
                <a:solidFill>
                  <a:schemeClr val="bg1"/>
                </a:solidFill>
              </a:rPr>
              <a:t>CPU &amp; memory graphs</a:t>
            </a:r>
            <a:endParaRPr lang="en-US" sz="1400" dirty="0"/>
          </a:p>
        </p:txBody>
      </p:sp>
      <p:sp>
        <p:nvSpPr>
          <p:cNvPr id="30" name="Card"/>
          <p:cNvSpPr/>
          <p:nvPr/>
        </p:nvSpPr>
        <p:spPr>
          <a:xfrm>
            <a:off x="457200" y="4069080"/>
            <a:ext cx="8229600" cy="502920"/>
          </a:xfrm>
          <a:prstGeom prst="roundRect">
            <a:avLst>
              <a:gd name="adj" fmla="val 18182"/>
            </a:avLst>
          </a:prstGeom>
          <a:solidFill>
            <a:schemeClr val="tx1"/>
          </a:solidFill>
          <a:ln w="12700">
            <a:solidFill>
              <a:schemeClr val="tx1"/>
            </a:solidFill>
            <a:prstDash val="solid"/>
          </a:ln>
        </p:spPr>
      </p:sp>
      <p:sp>
        <p:nvSpPr>
          <p:cNvPr id="31" name="Text 22"/>
          <p:cNvSpPr txBox="1"/>
          <p:nvPr/>
        </p:nvSpPr>
        <p:spPr>
          <a:xfrm>
            <a:off x="640080" y="4069080"/>
            <a:ext cx="7863840" cy="502920"/>
          </a:xfrm>
          <a:prstGeom prst="rect">
            <a:avLst/>
          </a:prstGeom>
          <a:noFill/>
          <a:ln/>
        </p:spPr>
        <p:txBody>
          <a:bodyPr wrap="square" lIns="0" tIns="0" rIns="0" bIns="0" rtlCol="0" anchor="ctr"/>
          <a:lstStyle/>
          <a:p>
            <a:pPr indent="0" marL="0">
              <a:buNone/>
            </a:pPr>
            <a:r>
              <a:rPr lang="en-US" sz="1400" dirty="0">
                <a:solidFill>
                  <a:schemeClr val="bg1"/>
                </a:solidFill>
              </a:rPr>
              <a:t>Separate flows today. Next step: add CloudWatch as a Grafana data source.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Achievements</a:t>
            </a:r>
            <a:endParaRPr lang="en-US" sz="3400" dirty="0"/>
          </a:p>
        </p:txBody>
      </p:sp>
      <p:sp>
        <p:nvSpPr>
          <p:cNvPr id="3" name="Card"/>
          <p:cNvSpPr/>
          <p:nvPr/>
        </p:nvSpPr>
        <p:spPr>
          <a:xfrm>
            <a:off x="457200" y="1280160"/>
            <a:ext cx="4023360" cy="566928"/>
          </a:xfrm>
          <a:prstGeom prst="roundRect">
            <a:avLst>
              <a:gd name="adj" fmla="val 16129"/>
            </a:avLst>
          </a:prstGeom>
          <a:solidFill>
            <a:schemeClr val="bg2"/>
          </a:solidFill>
          <a:ln w="12700">
            <a:solidFill>
              <a:schemeClr val="bg2"/>
            </a:solidFill>
            <a:prstDash val="solid"/>
          </a:ln>
        </p:spPr>
      </p:sp>
      <p:sp>
        <p:nvSpPr>
          <p:cNvPr id="4" name="Icon circle"/>
          <p:cNvSpPr/>
          <p:nvPr/>
        </p:nvSpPr>
        <p:spPr>
          <a:xfrm>
            <a:off x="594360" y="1371600"/>
            <a:ext cx="384048" cy="384048"/>
          </a:xfrm>
          <a:prstGeom prst="ellipse">
            <a:avLst/>
          </a:prstGeom>
          <a:solidFill>
            <a:schemeClr val="accent2"/>
          </a:solidFill>
          <a:ln w="12700">
            <a:solidFill>
              <a:schemeClr val="accent2"/>
            </a:solidFill>
            <a:prstDash val="solid"/>
          </a:ln>
        </p:spPr>
      </p:sp>
      <p:pic>
        <p:nvPicPr>
          <p:cNvPr id="5" name="Image 0" descr="FaCheck">    </p:cNvPr>
          <p:cNvPicPr>
            <a:picLocks noChangeAspect="1"/>
          </p:cNvPicPr>
          <p:nvPr/>
        </p:nvPicPr>
        <p:blipFill>
          <a:blip r:embed="rId1"/>
          <a:stretch>
            <a:fillRect/>
          </a:stretch>
        </p:blipFill>
        <p:spPr>
          <a:xfrm>
            <a:off x="690372" y="1467612"/>
            <a:ext cx="192024" cy="192024"/>
          </a:xfrm>
          <a:prstGeom prst="rect">
            <a:avLst/>
          </a:prstGeom>
        </p:spPr>
      </p:pic>
      <p:sp>
        <p:nvSpPr>
          <p:cNvPr id="6" name="Text 3"/>
          <p:cNvSpPr txBox="1"/>
          <p:nvPr/>
        </p:nvSpPr>
        <p:spPr>
          <a:xfrm>
            <a:off x="1143000" y="1280160"/>
            <a:ext cx="3246120" cy="566928"/>
          </a:xfrm>
          <a:prstGeom prst="rect">
            <a:avLst/>
          </a:prstGeom>
          <a:noFill/>
          <a:ln/>
        </p:spPr>
        <p:txBody>
          <a:bodyPr wrap="square" lIns="0" tIns="0" rIns="0" bIns="0" rtlCol="0" anchor="ctr"/>
          <a:lstStyle/>
          <a:p>
            <a:pPr indent="0" marL="0">
              <a:buNone/>
            </a:pPr>
            <a:r>
              <a:rPr lang="en-US" sz="1400" dirty="0">
                <a:solidFill>
                  <a:schemeClr val="tx1"/>
                </a:solidFill>
              </a:rPr>
              <a:t>Launched an Ubuntu EC2 instance</a:t>
            </a:r>
            <a:endParaRPr lang="en-US" sz="1400" dirty="0"/>
          </a:p>
        </p:txBody>
      </p:sp>
      <p:sp>
        <p:nvSpPr>
          <p:cNvPr id="7" name="Card"/>
          <p:cNvSpPr/>
          <p:nvPr/>
        </p:nvSpPr>
        <p:spPr>
          <a:xfrm>
            <a:off x="457200" y="1938528"/>
            <a:ext cx="4023360" cy="566928"/>
          </a:xfrm>
          <a:prstGeom prst="roundRect">
            <a:avLst>
              <a:gd name="adj" fmla="val 16129"/>
            </a:avLst>
          </a:prstGeom>
          <a:solidFill>
            <a:schemeClr val="bg2"/>
          </a:solidFill>
          <a:ln w="12700">
            <a:solidFill>
              <a:schemeClr val="bg2"/>
            </a:solidFill>
            <a:prstDash val="solid"/>
          </a:ln>
        </p:spPr>
      </p:sp>
      <p:sp>
        <p:nvSpPr>
          <p:cNvPr id="8" name="Icon circle"/>
          <p:cNvSpPr/>
          <p:nvPr/>
        </p:nvSpPr>
        <p:spPr>
          <a:xfrm>
            <a:off x="594360" y="2029968"/>
            <a:ext cx="384048" cy="384048"/>
          </a:xfrm>
          <a:prstGeom prst="ellipse">
            <a:avLst/>
          </a:prstGeom>
          <a:solidFill>
            <a:schemeClr val="accent2"/>
          </a:solidFill>
          <a:ln w="12700">
            <a:solidFill>
              <a:schemeClr val="accent2"/>
            </a:solidFill>
            <a:prstDash val="solid"/>
          </a:ln>
        </p:spPr>
      </p:sp>
      <p:pic>
        <p:nvPicPr>
          <p:cNvPr id="9" name="Image 1" descr="FaCheck">    </p:cNvPr>
          <p:cNvPicPr>
            <a:picLocks noChangeAspect="1"/>
          </p:cNvPicPr>
          <p:nvPr/>
        </p:nvPicPr>
        <p:blipFill>
          <a:blip r:embed="rId2"/>
          <a:stretch>
            <a:fillRect/>
          </a:stretch>
        </p:blipFill>
        <p:spPr>
          <a:xfrm>
            <a:off x="690372" y="2125980"/>
            <a:ext cx="192024" cy="192024"/>
          </a:xfrm>
          <a:prstGeom prst="rect">
            <a:avLst/>
          </a:prstGeom>
        </p:spPr>
      </p:pic>
      <p:sp>
        <p:nvSpPr>
          <p:cNvPr id="10" name="Text 6"/>
          <p:cNvSpPr txBox="1"/>
          <p:nvPr/>
        </p:nvSpPr>
        <p:spPr>
          <a:xfrm>
            <a:off x="1143000" y="1938528"/>
            <a:ext cx="3246120" cy="566928"/>
          </a:xfrm>
          <a:prstGeom prst="rect">
            <a:avLst/>
          </a:prstGeom>
          <a:noFill/>
          <a:ln/>
        </p:spPr>
        <p:txBody>
          <a:bodyPr wrap="square" lIns="0" tIns="0" rIns="0" bIns="0" rtlCol="0" anchor="ctr"/>
          <a:lstStyle/>
          <a:p>
            <a:pPr indent="0" marL="0">
              <a:buNone/>
            </a:pPr>
            <a:r>
              <a:rPr lang="en-US" sz="1400" dirty="0">
                <a:solidFill>
                  <a:schemeClr val="tx1"/>
                </a:solidFill>
              </a:rPr>
              <a:t>Inspected EC2 metrics in CloudWatch</a:t>
            </a:r>
            <a:endParaRPr lang="en-US" sz="1400" dirty="0"/>
          </a:p>
        </p:txBody>
      </p:sp>
      <p:sp>
        <p:nvSpPr>
          <p:cNvPr id="11" name="Card"/>
          <p:cNvSpPr/>
          <p:nvPr/>
        </p:nvSpPr>
        <p:spPr>
          <a:xfrm>
            <a:off x="457200" y="2596896"/>
            <a:ext cx="4023360" cy="566928"/>
          </a:xfrm>
          <a:prstGeom prst="roundRect">
            <a:avLst>
              <a:gd name="adj" fmla="val 16129"/>
            </a:avLst>
          </a:prstGeom>
          <a:solidFill>
            <a:schemeClr val="bg2"/>
          </a:solidFill>
          <a:ln w="12700">
            <a:solidFill>
              <a:schemeClr val="bg2"/>
            </a:solidFill>
            <a:prstDash val="solid"/>
          </a:ln>
        </p:spPr>
      </p:sp>
      <p:sp>
        <p:nvSpPr>
          <p:cNvPr id="12" name="Icon circle"/>
          <p:cNvSpPr/>
          <p:nvPr/>
        </p:nvSpPr>
        <p:spPr>
          <a:xfrm>
            <a:off x="594360" y="2688336"/>
            <a:ext cx="384048" cy="384048"/>
          </a:xfrm>
          <a:prstGeom prst="ellipse">
            <a:avLst/>
          </a:prstGeom>
          <a:solidFill>
            <a:schemeClr val="accent2"/>
          </a:solidFill>
          <a:ln w="12700">
            <a:solidFill>
              <a:schemeClr val="accent2"/>
            </a:solidFill>
            <a:prstDash val="solid"/>
          </a:ln>
        </p:spPr>
      </p:sp>
      <p:pic>
        <p:nvPicPr>
          <p:cNvPr id="13" name="Image 2" descr="FaCheck">    </p:cNvPr>
          <p:cNvPicPr>
            <a:picLocks noChangeAspect="1"/>
          </p:cNvPicPr>
          <p:nvPr/>
        </p:nvPicPr>
        <p:blipFill>
          <a:blip r:embed="rId3"/>
          <a:stretch>
            <a:fillRect/>
          </a:stretch>
        </p:blipFill>
        <p:spPr>
          <a:xfrm>
            <a:off x="690372" y="2784348"/>
            <a:ext cx="192024" cy="192024"/>
          </a:xfrm>
          <a:prstGeom prst="rect">
            <a:avLst/>
          </a:prstGeom>
        </p:spPr>
      </p:pic>
      <p:sp>
        <p:nvSpPr>
          <p:cNvPr id="14" name="Text 9"/>
          <p:cNvSpPr txBox="1"/>
          <p:nvPr/>
        </p:nvSpPr>
        <p:spPr>
          <a:xfrm>
            <a:off x="1143000" y="2596896"/>
            <a:ext cx="3246120" cy="566928"/>
          </a:xfrm>
          <a:prstGeom prst="rect">
            <a:avLst/>
          </a:prstGeom>
          <a:noFill/>
          <a:ln/>
        </p:spPr>
        <p:txBody>
          <a:bodyPr wrap="square" lIns="0" tIns="0" rIns="0" bIns="0" rtlCol="0" anchor="ctr"/>
          <a:lstStyle/>
          <a:p>
            <a:pPr indent="0" marL="0">
              <a:buNone/>
            </a:pPr>
            <a:r>
              <a:rPr lang="en-US" sz="1400" dirty="0">
                <a:solidFill>
                  <a:schemeClr val="tx1"/>
                </a:solidFill>
              </a:rPr>
              <a:t>Installed Prometheus using apt</a:t>
            </a:r>
            <a:endParaRPr lang="en-US" sz="1400" dirty="0"/>
          </a:p>
        </p:txBody>
      </p:sp>
      <p:sp>
        <p:nvSpPr>
          <p:cNvPr id="15" name="Card"/>
          <p:cNvSpPr/>
          <p:nvPr/>
        </p:nvSpPr>
        <p:spPr>
          <a:xfrm>
            <a:off x="457200" y="3255264"/>
            <a:ext cx="4023360" cy="566928"/>
          </a:xfrm>
          <a:prstGeom prst="roundRect">
            <a:avLst>
              <a:gd name="adj" fmla="val 16129"/>
            </a:avLst>
          </a:prstGeom>
          <a:solidFill>
            <a:schemeClr val="bg2"/>
          </a:solidFill>
          <a:ln w="12700">
            <a:solidFill>
              <a:schemeClr val="bg2"/>
            </a:solidFill>
            <a:prstDash val="solid"/>
          </a:ln>
        </p:spPr>
      </p:sp>
      <p:sp>
        <p:nvSpPr>
          <p:cNvPr id="16" name="Icon circle"/>
          <p:cNvSpPr/>
          <p:nvPr/>
        </p:nvSpPr>
        <p:spPr>
          <a:xfrm>
            <a:off x="594360" y="3346704"/>
            <a:ext cx="384048" cy="384048"/>
          </a:xfrm>
          <a:prstGeom prst="ellipse">
            <a:avLst/>
          </a:prstGeom>
          <a:solidFill>
            <a:schemeClr val="accent2"/>
          </a:solidFill>
          <a:ln w="12700">
            <a:solidFill>
              <a:schemeClr val="accent2"/>
            </a:solidFill>
            <a:prstDash val="solid"/>
          </a:ln>
        </p:spPr>
      </p:sp>
      <p:pic>
        <p:nvPicPr>
          <p:cNvPr id="17" name="Image 3" descr="FaCheck">    </p:cNvPr>
          <p:cNvPicPr>
            <a:picLocks noChangeAspect="1"/>
          </p:cNvPicPr>
          <p:nvPr/>
        </p:nvPicPr>
        <p:blipFill>
          <a:blip r:embed="rId4"/>
          <a:stretch>
            <a:fillRect/>
          </a:stretch>
        </p:blipFill>
        <p:spPr>
          <a:xfrm>
            <a:off x="690372" y="3442716"/>
            <a:ext cx="192024" cy="192024"/>
          </a:xfrm>
          <a:prstGeom prst="rect">
            <a:avLst/>
          </a:prstGeom>
        </p:spPr>
      </p:pic>
      <p:sp>
        <p:nvSpPr>
          <p:cNvPr id="18" name="Text 12"/>
          <p:cNvSpPr txBox="1"/>
          <p:nvPr/>
        </p:nvSpPr>
        <p:spPr>
          <a:xfrm>
            <a:off x="1143000" y="3255264"/>
            <a:ext cx="3246120" cy="566928"/>
          </a:xfrm>
          <a:prstGeom prst="rect">
            <a:avLst/>
          </a:prstGeom>
          <a:noFill/>
          <a:ln/>
        </p:spPr>
        <p:txBody>
          <a:bodyPr wrap="square" lIns="0" tIns="0" rIns="0" bIns="0" rtlCol="0" anchor="ctr"/>
          <a:lstStyle/>
          <a:p>
            <a:pPr indent="0" marL="0">
              <a:buNone/>
            </a:pPr>
            <a:r>
              <a:rPr lang="en-US" sz="1400" dirty="0">
                <a:solidFill>
                  <a:schemeClr val="tx1"/>
                </a:solidFill>
              </a:rPr>
              <a:t>Installed Node Exporter</a:t>
            </a:r>
            <a:endParaRPr lang="en-US" sz="1400" dirty="0"/>
          </a:p>
        </p:txBody>
      </p:sp>
      <p:sp>
        <p:nvSpPr>
          <p:cNvPr id="19" name="Card"/>
          <p:cNvSpPr/>
          <p:nvPr/>
        </p:nvSpPr>
        <p:spPr>
          <a:xfrm>
            <a:off x="457200" y="3913632"/>
            <a:ext cx="4023360" cy="566928"/>
          </a:xfrm>
          <a:prstGeom prst="roundRect">
            <a:avLst>
              <a:gd name="adj" fmla="val 16129"/>
            </a:avLst>
          </a:prstGeom>
          <a:solidFill>
            <a:schemeClr val="bg2"/>
          </a:solidFill>
          <a:ln w="12700">
            <a:solidFill>
              <a:schemeClr val="bg2"/>
            </a:solidFill>
            <a:prstDash val="solid"/>
          </a:ln>
        </p:spPr>
      </p:sp>
      <p:sp>
        <p:nvSpPr>
          <p:cNvPr id="20" name="Icon circle"/>
          <p:cNvSpPr/>
          <p:nvPr/>
        </p:nvSpPr>
        <p:spPr>
          <a:xfrm>
            <a:off x="594360" y="4005072"/>
            <a:ext cx="384048" cy="384048"/>
          </a:xfrm>
          <a:prstGeom prst="ellipse">
            <a:avLst/>
          </a:prstGeom>
          <a:solidFill>
            <a:schemeClr val="accent2"/>
          </a:solidFill>
          <a:ln w="12700">
            <a:solidFill>
              <a:schemeClr val="accent2"/>
            </a:solidFill>
            <a:prstDash val="solid"/>
          </a:ln>
        </p:spPr>
      </p:sp>
      <p:pic>
        <p:nvPicPr>
          <p:cNvPr id="21" name="Image 4" descr="FaCheck">    </p:cNvPr>
          <p:cNvPicPr>
            <a:picLocks noChangeAspect="1"/>
          </p:cNvPicPr>
          <p:nvPr/>
        </p:nvPicPr>
        <p:blipFill>
          <a:blip r:embed="rId5"/>
          <a:stretch>
            <a:fillRect/>
          </a:stretch>
        </p:blipFill>
        <p:spPr>
          <a:xfrm>
            <a:off x="690372" y="4101084"/>
            <a:ext cx="192024" cy="192024"/>
          </a:xfrm>
          <a:prstGeom prst="rect">
            <a:avLst/>
          </a:prstGeom>
        </p:spPr>
      </p:pic>
      <p:sp>
        <p:nvSpPr>
          <p:cNvPr id="22" name="Text 15"/>
          <p:cNvSpPr txBox="1"/>
          <p:nvPr/>
        </p:nvSpPr>
        <p:spPr>
          <a:xfrm>
            <a:off x="1143000" y="3913632"/>
            <a:ext cx="3246120" cy="566928"/>
          </a:xfrm>
          <a:prstGeom prst="rect">
            <a:avLst/>
          </a:prstGeom>
          <a:noFill/>
          <a:ln/>
        </p:spPr>
        <p:txBody>
          <a:bodyPr wrap="square" lIns="0" tIns="0" rIns="0" bIns="0" rtlCol="0" anchor="ctr"/>
          <a:lstStyle/>
          <a:p>
            <a:pPr indent="0" marL="0">
              <a:buNone/>
            </a:pPr>
            <a:r>
              <a:rPr lang="en-US" sz="1400" dirty="0">
                <a:solidFill>
                  <a:schemeClr val="tx1"/>
                </a:solidFill>
              </a:rPr>
              <a:t>Started and enabled services</a:t>
            </a:r>
            <a:endParaRPr lang="en-US" sz="1400" dirty="0"/>
          </a:p>
        </p:txBody>
      </p:sp>
      <p:sp>
        <p:nvSpPr>
          <p:cNvPr id="23" name="Card"/>
          <p:cNvSpPr/>
          <p:nvPr/>
        </p:nvSpPr>
        <p:spPr>
          <a:xfrm>
            <a:off x="4663440" y="1280160"/>
            <a:ext cx="4023360" cy="566928"/>
          </a:xfrm>
          <a:prstGeom prst="roundRect">
            <a:avLst>
              <a:gd name="adj" fmla="val 16129"/>
            </a:avLst>
          </a:prstGeom>
          <a:solidFill>
            <a:schemeClr val="bg2"/>
          </a:solidFill>
          <a:ln w="12700">
            <a:solidFill>
              <a:schemeClr val="bg2"/>
            </a:solidFill>
            <a:prstDash val="solid"/>
          </a:ln>
        </p:spPr>
      </p:sp>
      <p:sp>
        <p:nvSpPr>
          <p:cNvPr id="24" name="Icon circle"/>
          <p:cNvSpPr/>
          <p:nvPr/>
        </p:nvSpPr>
        <p:spPr>
          <a:xfrm>
            <a:off x="4800600" y="1371600"/>
            <a:ext cx="384048" cy="384048"/>
          </a:xfrm>
          <a:prstGeom prst="ellipse">
            <a:avLst/>
          </a:prstGeom>
          <a:solidFill>
            <a:schemeClr val="accent2"/>
          </a:solidFill>
          <a:ln w="12700">
            <a:solidFill>
              <a:schemeClr val="accent2"/>
            </a:solidFill>
            <a:prstDash val="solid"/>
          </a:ln>
        </p:spPr>
      </p:sp>
      <p:pic>
        <p:nvPicPr>
          <p:cNvPr id="25" name="Image 5" descr="FaCheck">    </p:cNvPr>
          <p:cNvPicPr>
            <a:picLocks noChangeAspect="1"/>
          </p:cNvPicPr>
          <p:nvPr/>
        </p:nvPicPr>
        <p:blipFill>
          <a:blip r:embed="rId6"/>
          <a:stretch>
            <a:fillRect/>
          </a:stretch>
        </p:blipFill>
        <p:spPr>
          <a:xfrm>
            <a:off x="4896612" y="1467612"/>
            <a:ext cx="192024" cy="192024"/>
          </a:xfrm>
          <a:prstGeom prst="rect">
            <a:avLst/>
          </a:prstGeom>
        </p:spPr>
      </p:pic>
      <p:sp>
        <p:nvSpPr>
          <p:cNvPr id="26" name="Text 18"/>
          <p:cNvSpPr txBox="1"/>
          <p:nvPr/>
        </p:nvSpPr>
        <p:spPr>
          <a:xfrm>
            <a:off x="5349240" y="1280160"/>
            <a:ext cx="3246120" cy="566928"/>
          </a:xfrm>
          <a:prstGeom prst="rect">
            <a:avLst/>
          </a:prstGeom>
          <a:noFill/>
          <a:ln/>
        </p:spPr>
        <p:txBody>
          <a:bodyPr wrap="square" lIns="0" tIns="0" rIns="0" bIns="0" rtlCol="0" anchor="ctr"/>
          <a:lstStyle/>
          <a:p>
            <a:pPr indent="0" marL="0">
              <a:buNone/>
            </a:pPr>
            <a:r>
              <a:rPr lang="en-US" sz="1400" dirty="0">
                <a:solidFill>
                  <a:schemeClr val="tx1"/>
                </a:solidFill>
              </a:rPr>
              <a:t>Installed Grafana from official repo</a:t>
            </a:r>
            <a:endParaRPr lang="en-US" sz="1400" dirty="0"/>
          </a:p>
        </p:txBody>
      </p:sp>
      <p:sp>
        <p:nvSpPr>
          <p:cNvPr id="27" name="Card"/>
          <p:cNvSpPr/>
          <p:nvPr/>
        </p:nvSpPr>
        <p:spPr>
          <a:xfrm>
            <a:off x="4663440" y="1938528"/>
            <a:ext cx="4023360" cy="566928"/>
          </a:xfrm>
          <a:prstGeom prst="roundRect">
            <a:avLst>
              <a:gd name="adj" fmla="val 16129"/>
            </a:avLst>
          </a:prstGeom>
          <a:solidFill>
            <a:schemeClr val="bg2"/>
          </a:solidFill>
          <a:ln w="12700">
            <a:solidFill>
              <a:schemeClr val="bg2"/>
            </a:solidFill>
            <a:prstDash val="solid"/>
          </a:ln>
        </p:spPr>
      </p:sp>
      <p:sp>
        <p:nvSpPr>
          <p:cNvPr id="28" name="Icon circle"/>
          <p:cNvSpPr/>
          <p:nvPr/>
        </p:nvSpPr>
        <p:spPr>
          <a:xfrm>
            <a:off x="4800600" y="2029968"/>
            <a:ext cx="384048" cy="384048"/>
          </a:xfrm>
          <a:prstGeom prst="ellipse">
            <a:avLst/>
          </a:prstGeom>
          <a:solidFill>
            <a:schemeClr val="accent2"/>
          </a:solidFill>
          <a:ln w="12700">
            <a:solidFill>
              <a:schemeClr val="accent2"/>
            </a:solidFill>
            <a:prstDash val="solid"/>
          </a:ln>
        </p:spPr>
      </p:sp>
      <p:pic>
        <p:nvPicPr>
          <p:cNvPr id="29" name="Image 6" descr="FaCheck">    </p:cNvPr>
          <p:cNvPicPr>
            <a:picLocks noChangeAspect="1"/>
          </p:cNvPicPr>
          <p:nvPr/>
        </p:nvPicPr>
        <p:blipFill>
          <a:blip r:embed="rId7"/>
          <a:stretch>
            <a:fillRect/>
          </a:stretch>
        </p:blipFill>
        <p:spPr>
          <a:xfrm>
            <a:off x="4896612" y="2125980"/>
            <a:ext cx="192024" cy="192024"/>
          </a:xfrm>
          <a:prstGeom prst="rect">
            <a:avLst/>
          </a:prstGeom>
        </p:spPr>
      </p:pic>
      <p:sp>
        <p:nvSpPr>
          <p:cNvPr id="30" name="Text 21"/>
          <p:cNvSpPr txBox="1"/>
          <p:nvPr/>
        </p:nvSpPr>
        <p:spPr>
          <a:xfrm>
            <a:off x="5349240" y="1938528"/>
            <a:ext cx="3246120" cy="566928"/>
          </a:xfrm>
          <a:prstGeom prst="rect">
            <a:avLst/>
          </a:prstGeom>
          <a:noFill/>
          <a:ln/>
        </p:spPr>
        <p:txBody>
          <a:bodyPr wrap="square" lIns="0" tIns="0" rIns="0" bIns="0" rtlCol="0" anchor="ctr"/>
          <a:lstStyle/>
          <a:p>
            <a:pPr indent="0" marL="0">
              <a:buNone/>
            </a:pPr>
            <a:r>
              <a:rPr lang="en-US" sz="1400" dirty="0">
                <a:solidFill>
                  <a:schemeClr val="tx1"/>
                </a:solidFill>
              </a:rPr>
              <a:t>Added Prometheus as data source</a:t>
            </a:r>
            <a:endParaRPr lang="en-US" sz="1400" dirty="0"/>
          </a:p>
        </p:txBody>
      </p:sp>
      <p:sp>
        <p:nvSpPr>
          <p:cNvPr id="31" name="Card"/>
          <p:cNvSpPr/>
          <p:nvPr/>
        </p:nvSpPr>
        <p:spPr>
          <a:xfrm>
            <a:off x="4663440" y="2596896"/>
            <a:ext cx="4023360" cy="566928"/>
          </a:xfrm>
          <a:prstGeom prst="roundRect">
            <a:avLst>
              <a:gd name="adj" fmla="val 16129"/>
            </a:avLst>
          </a:prstGeom>
          <a:solidFill>
            <a:schemeClr val="bg2"/>
          </a:solidFill>
          <a:ln w="12700">
            <a:solidFill>
              <a:schemeClr val="bg2"/>
            </a:solidFill>
            <a:prstDash val="solid"/>
          </a:ln>
        </p:spPr>
      </p:sp>
      <p:sp>
        <p:nvSpPr>
          <p:cNvPr id="32" name="Icon circle"/>
          <p:cNvSpPr/>
          <p:nvPr/>
        </p:nvSpPr>
        <p:spPr>
          <a:xfrm>
            <a:off x="4800600" y="2688336"/>
            <a:ext cx="384048" cy="384048"/>
          </a:xfrm>
          <a:prstGeom prst="ellipse">
            <a:avLst/>
          </a:prstGeom>
          <a:solidFill>
            <a:schemeClr val="accent2"/>
          </a:solidFill>
          <a:ln w="12700">
            <a:solidFill>
              <a:schemeClr val="accent2"/>
            </a:solidFill>
            <a:prstDash val="solid"/>
          </a:ln>
        </p:spPr>
      </p:sp>
      <p:pic>
        <p:nvPicPr>
          <p:cNvPr id="33" name="Image 7" descr="FaCheck">    </p:cNvPr>
          <p:cNvPicPr>
            <a:picLocks noChangeAspect="1"/>
          </p:cNvPicPr>
          <p:nvPr/>
        </p:nvPicPr>
        <p:blipFill>
          <a:blip r:embed="rId8"/>
          <a:stretch>
            <a:fillRect/>
          </a:stretch>
        </p:blipFill>
        <p:spPr>
          <a:xfrm>
            <a:off x="4896612" y="2784348"/>
            <a:ext cx="192024" cy="192024"/>
          </a:xfrm>
          <a:prstGeom prst="rect">
            <a:avLst/>
          </a:prstGeom>
        </p:spPr>
      </p:pic>
      <p:sp>
        <p:nvSpPr>
          <p:cNvPr id="34" name="Text 24"/>
          <p:cNvSpPr txBox="1"/>
          <p:nvPr/>
        </p:nvSpPr>
        <p:spPr>
          <a:xfrm>
            <a:off x="5349240" y="2596896"/>
            <a:ext cx="3246120" cy="566928"/>
          </a:xfrm>
          <a:prstGeom prst="rect">
            <a:avLst/>
          </a:prstGeom>
          <a:noFill/>
          <a:ln/>
        </p:spPr>
        <p:txBody>
          <a:bodyPr wrap="square" lIns="0" tIns="0" rIns="0" bIns="0" rtlCol="0" anchor="ctr"/>
          <a:lstStyle/>
          <a:p>
            <a:pPr indent="0" marL="0">
              <a:buNone/>
            </a:pPr>
            <a:r>
              <a:rPr lang="en-US" sz="1400" dirty="0">
                <a:solidFill>
                  <a:schemeClr val="tx1"/>
                </a:solidFill>
              </a:rPr>
              <a:t>Wrote PromQL for CPU &amp; memory</a:t>
            </a:r>
            <a:endParaRPr lang="en-US" sz="1400" dirty="0"/>
          </a:p>
        </p:txBody>
      </p:sp>
      <p:sp>
        <p:nvSpPr>
          <p:cNvPr id="35" name="Card"/>
          <p:cNvSpPr/>
          <p:nvPr/>
        </p:nvSpPr>
        <p:spPr>
          <a:xfrm>
            <a:off x="4663440" y="3255264"/>
            <a:ext cx="4023360" cy="566928"/>
          </a:xfrm>
          <a:prstGeom prst="roundRect">
            <a:avLst>
              <a:gd name="adj" fmla="val 16129"/>
            </a:avLst>
          </a:prstGeom>
          <a:solidFill>
            <a:schemeClr val="bg2"/>
          </a:solidFill>
          <a:ln w="12700">
            <a:solidFill>
              <a:schemeClr val="bg2"/>
            </a:solidFill>
            <a:prstDash val="solid"/>
          </a:ln>
        </p:spPr>
      </p:sp>
      <p:sp>
        <p:nvSpPr>
          <p:cNvPr id="36" name="Icon circle"/>
          <p:cNvSpPr/>
          <p:nvPr/>
        </p:nvSpPr>
        <p:spPr>
          <a:xfrm>
            <a:off x="4800600" y="3346704"/>
            <a:ext cx="384048" cy="384048"/>
          </a:xfrm>
          <a:prstGeom prst="ellipse">
            <a:avLst/>
          </a:prstGeom>
          <a:solidFill>
            <a:schemeClr val="accent2"/>
          </a:solidFill>
          <a:ln w="12700">
            <a:solidFill>
              <a:schemeClr val="accent2"/>
            </a:solidFill>
            <a:prstDash val="solid"/>
          </a:ln>
        </p:spPr>
      </p:sp>
      <p:pic>
        <p:nvPicPr>
          <p:cNvPr id="37" name="Image 8" descr="FaCheck">    </p:cNvPr>
          <p:cNvPicPr>
            <a:picLocks noChangeAspect="1"/>
          </p:cNvPicPr>
          <p:nvPr/>
        </p:nvPicPr>
        <p:blipFill>
          <a:blip r:embed="rId9"/>
          <a:stretch>
            <a:fillRect/>
          </a:stretch>
        </p:blipFill>
        <p:spPr>
          <a:xfrm>
            <a:off x="4896612" y="3442716"/>
            <a:ext cx="192024" cy="192024"/>
          </a:xfrm>
          <a:prstGeom prst="rect">
            <a:avLst/>
          </a:prstGeom>
        </p:spPr>
      </p:pic>
      <p:sp>
        <p:nvSpPr>
          <p:cNvPr id="38" name="Text 27"/>
          <p:cNvSpPr txBox="1"/>
          <p:nvPr/>
        </p:nvSpPr>
        <p:spPr>
          <a:xfrm>
            <a:off x="5349240" y="3255264"/>
            <a:ext cx="3246120" cy="566928"/>
          </a:xfrm>
          <a:prstGeom prst="rect">
            <a:avLst/>
          </a:prstGeom>
          <a:noFill/>
          <a:ln/>
        </p:spPr>
        <p:txBody>
          <a:bodyPr wrap="square" lIns="0" tIns="0" rIns="0" bIns="0" rtlCol="0" anchor="ctr"/>
          <a:lstStyle/>
          <a:p>
            <a:pPr indent="0" marL="0">
              <a:buNone/>
            </a:pPr>
            <a:r>
              <a:rPr lang="en-US" sz="1400" dirty="0">
                <a:solidFill>
                  <a:schemeClr val="tx1"/>
                </a:solidFill>
              </a:rPr>
              <a:t>Built a custom dashboard</a:t>
            </a:r>
            <a:endParaRPr lang="en-US" sz="1400" dirty="0"/>
          </a:p>
        </p:txBody>
      </p:sp>
      <p:sp>
        <p:nvSpPr>
          <p:cNvPr id="39" name="Card"/>
          <p:cNvSpPr/>
          <p:nvPr/>
        </p:nvSpPr>
        <p:spPr>
          <a:xfrm>
            <a:off x="4663440" y="3913632"/>
            <a:ext cx="4023360" cy="566928"/>
          </a:xfrm>
          <a:prstGeom prst="roundRect">
            <a:avLst>
              <a:gd name="adj" fmla="val 16129"/>
            </a:avLst>
          </a:prstGeom>
          <a:solidFill>
            <a:schemeClr val="bg2"/>
          </a:solidFill>
          <a:ln w="12700">
            <a:solidFill>
              <a:schemeClr val="bg2"/>
            </a:solidFill>
            <a:prstDash val="solid"/>
          </a:ln>
        </p:spPr>
      </p:sp>
      <p:sp>
        <p:nvSpPr>
          <p:cNvPr id="40" name="Icon circle"/>
          <p:cNvSpPr/>
          <p:nvPr/>
        </p:nvSpPr>
        <p:spPr>
          <a:xfrm>
            <a:off x="4800600" y="4005072"/>
            <a:ext cx="384048" cy="384048"/>
          </a:xfrm>
          <a:prstGeom prst="ellipse">
            <a:avLst/>
          </a:prstGeom>
          <a:solidFill>
            <a:schemeClr val="accent2"/>
          </a:solidFill>
          <a:ln w="12700">
            <a:solidFill>
              <a:schemeClr val="accent2"/>
            </a:solidFill>
            <a:prstDash val="solid"/>
          </a:ln>
        </p:spPr>
      </p:sp>
      <p:pic>
        <p:nvPicPr>
          <p:cNvPr id="41" name="Image 9" descr="FaCheck">    </p:cNvPr>
          <p:cNvPicPr>
            <a:picLocks noChangeAspect="1"/>
          </p:cNvPicPr>
          <p:nvPr/>
        </p:nvPicPr>
        <p:blipFill>
          <a:blip r:embed="rId10"/>
          <a:stretch>
            <a:fillRect/>
          </a:stretch>
        </p:blipFill>
        <p:spPr>
          <a:xfrm>
            <a:off x="4896612" y="4101084"/>
            <a:ext cx="192024" cy="192024"/>
          </a:xfrm>
          <a:prstGeom prst="rect">
            <a:avLst/>
          </a:prstGeom>
        </p:spPr>
      </p:pic>
      <p:sp>
        <p:nvSpPr>
          <p:cNvPr id="42" name="Text 30"/>
          <p:cNvSpPr txBox="1"/>
          <p:nvPr/>
        </p:nvSpPr>
        <p:spPr>
          <a:xfrm>
            <a:off x="5349240" y="3913632"/>
            <a:ext cx="3246120" cy="566928"/>
          </a:xfrm>
          <a:prstGeom prst="rect">
            <a:avLst/>
          </a:prstGeom>
          <a:noFill/>
          <a:ln/>
        </p:spPr>
        <p:txBody>
          <a:bodyPr wrap="square" lIns="0" tIns="0" rIns="0" bIns="0" rtlCol="0" anchor="ctr"/>
          <a:lstStyle/>
          <a:p>
            <a:pPr indent="0" marL="0">
              <a:buNone/>
            </a:pPr>
            <a:r>
              <a:rPr lang="en-US" sz="1400" dirty="0">
                <a:solidFill>
                  <a:schemeClr val="tx1"/>
                </a:solidFill>
              </a:rPr>
              <a:t>Practiced Linux service management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Limitations &amp; Next Steps</a:t>
            </a:r>
            <a:endParaRPr lang="en-US" sz="3400" dirty="0"/>
          </a:p>
        </p:txBody>
      </p:sp>
      <p:sp>
        <p:nvSpPr>
          <p:cNvPr id="3" name="Card"/>
          <p:cNvSpPr/>
          <p:nvPr/>
        </p:nvSpPr>
        <p:spPr>
          <a:xfrm>
            <a:off x="457200" y="1280160"/>
            <a:ext cx="4023360" cy="3291840"/>
          </a:xfrm>
          <a:prstGeom prst="roundRect">
            <a:avLst>
              <a:gd name="adj" fmla="val 2778"/>
            </a:avLst>
          </a:prstGeom>
          <a:solidFill>
            <a:schemeClr val="bg2"/>
          </a:solidFill>
          <a:ln w="12700">
            <a:solidFill>
              <a:schemeClr val="bg2"/>
            </a:solidFill>
            <a:prstDash val="solid"/>
          </a:ln>
          <a:effectLst>
            <a:outerShdw sx="100000" sy="100000" kx="0" ky="0" algn="bl" rotWithShape="0" blurRad="76200" dist="25400" dir="5400000">
              <a:srgbClr val="000000">
                <a:alpha val="10000"/>
              </a:srgbClr>
            </a:outerShdw>
          </a:effectLst>
        </p:spPr>
      </p:sp>
      <p:sp>
        <p:nvSpPr>
          <p:cNvPr id="4" name="Icon circle"/>
          <p:cNvSpPr/>
          <p:nvPr/>
        </p:nvSpPr>
        <p:spPr>
          <a:xfrm>
            <a:off x="685800" y="1481328"/>
            <a:ext cx="457200" cy="457200"/>
          </a:xfrm>
          <a:prstGeom prst="ellipse">
            <a:avLst/>
          </a:prstGeom>
          <a:solidFill>
            <a:schemeClr val="accent1"/>
          </a:solidFill>
          <a:ln w="12700">
            <a:solidFill>
              <a:schemeClr val="accent1"/>
            </a:solidFill>
            <a:prstDash val="solid"/>
          </a:ln>
        </p:spPr>
      </p:sp>
      <p:pic>
        <p:nvPicPr>
          <p:cNvPr id="5" name="Image 0" descr="FaExclamationTriangle">    </p:cNvPr>
          <p:cNvPicPr>
            <a:picLocks noChangeAspect="1"/>
          </p:cNvPicPr>
          <p:nvPr/>
        </p:nvPicPr>
        <p:blipFill>
          <a:blip r:embed="rId1"/>
          <a:stretch>
            <a:fillRect/>
          </a:stretch>
        </p:blipFill>
        <p:spPr>
          <a:xfrm>
            <a:off x="800100" y="1595628"/>
            <a:ext cx="228600" cy="228600"/>
          </a:xfrm>
          <a:prstGeom prst="rect">
            <a:avLst/>
          </a:prstGeom>
        </p:spPr>
      </p:pic>
      <p:sp>
        <p:nvSpPr>
          <p:cNvPr id="6" name="Text 3"/>
          <p:cNvSpPr txBox="1"/>
          <p:nvPr/>
        </p:nvSpPr>
        <p:spPr>
          <a:xfrm>
            <a:off x="1280160" y="1481328"/>
            <a:ext cx="3017520" cy="457200"/>
          </a:xfrm>
          <a:prstGeom prst="rect">
            <a:avLst/>
          </a:prstGeom>
          <a:noFill/>
          <a:ln/>
        </p:spPr>
        <p:txBody>
          <a:bodyPr wrap="square" lIns="0" tIns="0" rIns="0" bIns="0" rtlCol="0" anchor="ctr"/>
          <a:lstStyle/>
          <a:p>
            <a:pPr indent="0" marL="0">
              <a:buNone/>
            </a:pPr>
            <a:r>
              <a:rPr lang="en-US" sz="1800" b="1" dirty="0">
                <a:solidFill>
                  <a:schemeClr val="tx1"/>
                </a:solidFill>
              </a:rPr>
              <a:t>Current limitations</a:t>
            </a:r>
            <a:endParaRPr lang="en-US" sz="1800" dirty="0"/>
          </a:p>
        </p:txBody>
      </p:sp>
      <p:sp>
        <p:nvSpPr>
          <p:cNvPr id="7" name="Text 4"/>
          <p:cNvSpPr txBox="1"/>
          <p:nvPr/>
        </p:nvSpPr>
        <p:spPr>
          <a:xfrm>
            <a:off x="731520" y="2194560"/>
            <a:ext cx="3474720" cy="22860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CloudWatch and Prometheus are separate</a:t>
            </a:r>
            <a:endParaRPr lang="en-US" sz="1400" dirty="0"/>
          </a:p>
          <a:p>
            <a:pPr marL="342900" indent="-342900">
              <a:spcAft>
                <a:spcPts val="1000"/>
              </a:spcAft>
              <a:buSzPct val="100000"/>
              <a:buChar char="•"/>
            </a:pPr>
            <a:r>
              <a:rPr lang="en-US" sz="1400" dirty="0">
                <a:solidFill>
                  <a:schemeClr val="tx1"/>
                </a:solidFill>
              </a:rPr>
              <a:t>No CloudWatch Agent for OS metrics</a:t>
            </a:r>
            <a:endParaRPr lang="en-US" sz="1400" dirty="0"/>
          </a:p>
          <a:p>
            <a:pPr marL="342900" indent="-342900">
              <a:spcAft>
                <a:spcPts val="1000"/>
              </a:spcAft>
              <a:buSzPct val="100000"/>
              <a:buChar char="•"/>
            </a:pPr>
            <a:r>
              <a:rPr lang="en-US" sz="1400" dirty="0">
                <a:solidFill>
                  <a:schemeClr val="tx1"/>
                </a:solidFill>
              </a:rPr>
              <a:t>Basic dashboard: CPU and memory only</a:t>
            </a:r>
            <a:endParaRPr lang="en-US" sz="1400" dirty="0"/>
          </a:p>
          <a:p>
            <a:pPr marL="342900" indent="-342900">
              <a:spcAft>
                <a:spcPts val="1000"/>
              </a:spcAft>
              <a:buSzPct val="100000"/>
              <a:buChar char="•"/>
            </a:pPr>
            <a:r>
              <a:rPr lang="en-US" sz="1400" dirty="0">
                <a:solidFill>
                  <a:schemeClr val="tx1"/>
                </a:solidFill>
              </a:rPr>
              <a:t>No alerting configured</a:t>
            </a:r>
            <a:endParaRPr lang="en-US" sz="1400" dirty="0"/>
          </a:p>
        </p:txBody>
      </p:sp>
      <p:sp>
        <p:nvSpPr>
          <p:cNvPr id="8" name="Card"/>
          <p:cNvSpPr/>
          <p:nvPr/>
        </p:nvSpPr>
        <p:spPr>
          <a:xfrm>
            <a:off x="4663440" y="1280160"/>
            <a:ext cx="4023360" cy="3291840"/>
          </a:xfrm>
          <a:prstGeom prst="roundRect">
            <a:avLst>
              <a:gd name="adj" fmla="val 2778"/>
            </a:avLst>
          </a:prstGeom>
          <a:solidFill>
            <a:schemeClr val="tx1"/>
          </a:solidFill>
          <a:ln w="12700">
            <a:solidFill>
              <a:schemeClr val="tx1"/>
            </a:solidFill>
            <a:prstDash val="solid"/>
          </a:ln>
          <a:effectLst>
            <a:outerShdw sx="100000" sy="100000" kx="0" ky="0" algn="bl" rotWithShape="0" blurRad="76200" dist="25400" dir="5400000">
              <a:srgbClr val="000000">
                <a:alpha val="10000"/>
              </a:srgbClr>
            </a:outerShdw>
          </a:effectLst>
        </p:spPr>
      </p:sp>
      <p:sp>
        <p:nvSpPr>
          <p:cNvPr id="9" name="Icon circle"/>
          <p:cNvSpPr/>
          <p:nvPr/>
        </p:nvSpPr>
        <p:spPr>
          <a:xfrm>
            <a:off x="4892040" y="1481328"/>
            <a:ext cx="457200" cy="457200"/>
          </a:xfrm>
          <a:prstGeom prst="ellipse">
            <a:avLst/>
          </a:prstGeom>
          <a:solidFill>
            <a:schemeClr val="accent2"/>
          </a:solidFill>
          <a:ln w="12700">
            <a:solidFill>
              <a:schemeClr val="accent2"/>
            </a:solidFill>
            <a:prstDash val="solid"/>
          </a:ln>
        </p:spPr>
      </p:sp>
      <p:pic>
        <p:nvPicPr>
          <p:cNvPr id="10" name="Image 1" descr="FaRocket">    </p:cNvPr>
          <p:cNvPicPr>
            <a:picLocks noChangeAspect="1"/>
          </p:cNvPicPr>
          <p:nvPr/>
        </p:nvPicPr>
        <p:blipFill>
          <a:blip r:embed="rId2"/>
          <a:stretch>
            <a:fillRect/>
          </a:stretch>
        </p:blipFill>
        <p:spPr>
          <a:xfrm>
            <a:off x="5006340" y="1595628"/>
            <a:ext cx="228600" cy="228600"/>
          </a:xfrm>
          <a:prstGeom prst="rect">
            <a:avLst/>
          </a:prstGeom>
        </p:spPr>
      </p:pic>
      <p:sp>
        <p:nvSpPr>
          <p:cNvPr id="11" name="Text 7"/>
          <p:cNvSpPr txBox="1"/>
          <p:nvPr/>
        </p:nvSpPr>
        <p:spPr>
          <a:xfrm>
            <a:off x="5486400" y="1481328"/>
            <a:ext cx="3017520" cy="457200"/>
          </a:xfrm>
          <a:prstGeom prst="rect">
            <a:avLst/>
          </a:prstGeom>
          <a:noFill/>
          <a:ln/>
        </p:spPr>
        <p:txBody>
          <a:bodyPr wrap="square" lIns="0" tIns="0" rIns="0" bIns="0" rtlCol="0" anchor="ctr"/>
          <a:lstStyle/>
          <a:p>
            <a:pPr indent="0" marL="0">
              <a:buNone/>
            </a:pPr>
            <a:r>
              <a:rPr lang="en-US" sz="1800" b="1" dirty="0">
                <a:solidFill>
                  <a:schemeClr val="bg1"/>
                </a:solidFill>
              </a:rPr>
              <a:t>Future improvements</a:t>
            </a:r>
            <a:endParaRPr lang="en-US" sz="1800" dirty="0"/>
          </a:p>
        </p:txBody>
      </p:sp>
      <p:sp>
        <p:nvSpPr>
          <p:cNvPr id="12" name="Text 8"/>
          <p:cNvSpPr txBox="1"/>
          <p:nvPr/>
        </p:nvSpPr>
        <p:spPr>
          <a:xfrm>
            <a:off x="4937760" y="2194560"/>
            <a:ext cx="356616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Add CloudWatch as a Grafana data source</a:t>
            </a:r>
            <a:endParaRPr lang="en-US" sz="1400" dirty="0"/>
          </a:p>
          <a:p>
            <a:pPr marL="342900" indent="-342900">
              <a:spcAft>
                <a:spcPts val="800"/>
              </a:spcAft>
              <a:buSzPct val="100000"/>
              <a:buChar char="•"/>
            </a:pPr>
            <a:r>
              <a:rPr lang="en-US" sz="1400" dirty="0">
                <a:solidFill>
                  <a:schemeClr val="bg1"/>
                </a:solidFill>
              </a:rPr>
              <a:t>CPU and memory alert rules</a:t>
            </a:r>
            <a:endParaRPr lang="en-US" sz="1400" dirty="0"/>
          </a:p>
          <a:p>
            <a:pPr marL="342900" indent="-342900">
              <a:spcAft>
                <a:spcPts val="800"/>
              </a:spcAft>
              <a:buSzPct val="100000"/>
              <a:buChar char="•"/>
            </a:pPr>
            <a:r>
              <a:rPr lang="en-US" sz="1400" dirty="0">
                <a:solidFill>
                  <a:schemeClr val="bg1"/>
                </a:solidFill>
              </a:rPr>
              <a:t>Disk and network panels</a:t>
            </a:r>
            <a:endParaRPr lang="en-US" sz="1400" dirty="0"/>
          </a:p>
          <a:p>
            <a:pPr marL="342900" indent="-342900">
              <a:spcAft>
                <a:spcPts val="800"/>
              </a:spcAft>
              <a:buSzPct val="100000"/>
              <a:buChar char="•"/>
            </a:pPr>
            <a:r>
              <a:rPr lang="en-US" sz="1400" dirty="0">
                <a:solidFill>
                  <a:schemeClr val="bg1"/>
                </a:solidFill>
              </a:rPr>
              <a:t>Notifications for alerts</a:t>
            </a:r>
            <a:endParaRPr lang="en-US" sz="1400" dirty="0"/>
          </a:p>
          <a:p>
            <a:pPr marL="342900" indent="-342900">
              <a:spcAft>
                <a:spcPts val="800"/>
              </a:spcAft>
              <a:buSzPct val="100000"/>
              <a:buChar char="•"/>
            </a:pPr>
            <a:r>
              <a:rPr lang="en-US" sz="1400" dirty="0">
                <a:solidFill>
                  <a:schemeClr val="bg1"/>
                </a:solidFill>
              </a:rPr>
              <a:t>Automate with scripts or Ansible</a:t>
            </a:r>
            <a:endParaRPr lang="en-US" sz="1400" dirty="0"/>
          </a:p>
          <a:p>
            <a:pPr marL="342900" indent="-342900">
              <a:spcAft>
                <a:spcPts val="800"/>
              </a:spcAft>
              <a:buSzPct val="100000"/>
              <a:buChar char="•"/>
            </a:pPr>
            <a:r>
              <a:rPr lang="en-US" sz="1400" dirty="0">
                <a:solidFill>
                  <a:schemeClr val="bg1"/>
                </a:solidFill>
              </a:rPr>
              <a:t>Authentication and backups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40080" y="1005840"/>
            <a:ext cx="7680960" cy="1371600"/>
          </a:xfrm>
          <a:prstGeom prst="rect">
            <a:avLst/>
          </a:prstGeom>
          <a:noFill/>
          <a:ln/>
        </p:spPr>
        <p:txBody>
          <a:bodyPr wrap="square" lIns="0" tIns="0" rIns="0" bIns="0" rtlCol="0" anchor="b"/>
          <a:lstStyle/>
          <a:p>
            <a:pPr algn="l" indent="0" marL="0">
              <a:buNone/>
            </a:pPr>
            <a:r>
              <a:rPr lang="en-US" sz="4000" b="1" dirty="0">
                <a:solidFill>
                  <a:schemeClr val="bg1"/>
                </a:solidFill>
              </a:rPr>
              <a:t>Live Dashboard Demo</a:t>
            </a:r>
            <a:endParaRPr lang="en-US" sz="4000" dirty="0"/>
          </a:p>
        </p:txBody>
      </p:sp>
      <p:sp>
        <p:nvSpPr>
          <p:cNvPr id="3" name="Text 1"/>
          <p:cNvSpPr/>
          <p:nvPr/>
        </p:nvSpPr>
        <p:spPr>
          <a:xfrm>
            <a:off x="640080" y="2468880"/>
            <a:ext cx="7680960" cy="640080"/>
          </a:xfrm>
          <a:prstGeom prst="rect">
            <a:avLst/>
          </a:prstGeom>
          <a:noFill/>
          <a:ln/>
        </p:spPr>
        <p:txBody>
          <a:bodyPr wrap="square" lIns="0" tIns="0" rIns="0" bIns="0" rtlCol="0" anchor="t"/>
          <a:lstStyle/>
          <a:p>
            <a:pPr algn="l" indent="0" marL="0">
              <a:buNone/>
            </a:pPr>
            <a:r>
              <a:rPr lang="en-US" sz="2000" dirty="0">
                <a:solidFill>
                  <a:schemeClr val="accent6"/>
                </a:solidFill>
              </a:rPr>
              <a:t>What we will look at</a:t>
            </a:r>
            <a:endParaRPr lang="en-US" sz="2000" dirty="0"/>
          </a:p>
        </p:txBody>
      </p:sp>
      <p:sp>
        <p:nvSpPr>
          <p:cNvPr id="4" name="Card"/>
          <p:cNvSpPr/>
          <p:nvPr/>
        </p:nvSpPr>
        <p:spPr>
          <a:xfrm>
            <a:off x="640080" y="3200400"/>
            <a:ext cx="1783080" cy="1097280"/>
          </a:xfrm>
          <a:prstGeom prst="roundRect">
            <a:avLst>
              <a:gd name="adj" fmla="val 8333"/>
            </a:avLst>
          </a:prstGeom>
          <a:solidFill>
            <a:schemeClr val="tx2"/>
          </a:solidFill>
          <a:ln w="12700">
            <a:solidFill>
              <a:schemeClr val="tx2"/>
            </a:solidFill>
            <a:prstDash val="solid"/>
          </a:ln>
        </p:spPr>
      </p:sp>
      <p:sp>
        <p:nvSpPr>
          <p:cNvPr id="5" name="Number badge"/>
          <p:cNvSpPr/>
          <p:nvPr/>
        </p:nvSpPr>
        <p:spPr>
          <a:xfrm>
            <a:off x="777240" y="3337560"/>
            <a:ext cx="365760" cy="365760"/>
          </a:xfrm>
          <a:prstGeom prst="ellipse">
            <a:avLst/>
          </a:prstGeom>
          <a:solidFill>
            <a:schemeClr val="accent1"/>
          </a:solidFill>
          <a:ln w="12700">
            <a:solidFill>
              <a:schemeClr val="accent1"/>
            </a:solidFill>
            <a:prstDash val="solid"/>
          </a:ln>
        </p:spPr>
      </p:sp>
      <p:sp>
        <p:nvSpPr>
          <p:cNvPr id="6" name="Text 4"/>
          <p:cNvSpPr txBox="1"/>
          <p:nvPr/>
        </p:nvSpPr>
        <p:spPr>
          <a:xfrm>
            <a:off x="777240" y="33375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777240" y="3794760"/>
            <a:ext cx="1554480" cy="457200"/>
          </a:xfrm>
          <a:prstGeom prst="rect">
            <a:avLst/>
          </a:prstGeom>
          <a:noFill/>
          <a:ln/>
        </p:spPr>
        <p:txBody>
          <a:bodyPr wrap="square" lIns="0" tIns="0" rIns="0" bIns="0" rtlCol="0" anchor="t"/>
          <a:lstStyle/>
          <a:p>
            <a:pPr indent="0" marL="0">
              <a:buNone/>
            </a:pPr>
            <a:r>
              <a:rPr lang="en-US" sz="1400" b="1" dirty="0">
                <a:solidFill>
                  <a:schemeClr val="bg1"/>
                </a:solidFill>
              </a:rPr>
              <a:t>EC2 instance running</a:t>
            </a:r>
            <a:endParaRPr lang="en-US" sz="1400" dirty="0"/>
          </a:p>
        </p:txBody>
      </p:sp>
      <p:sp>
        <p:nvSpPr>
          <p:cNvPr id="8" name="Card"/>
          <p:cNvSpPr/>
          <p:nvPr/>
        </p:nvSpPr>
        <p:spPr>
          <a:xfrm>
            <a:off x="2606040" y="3200400"/>
            <a:ext cx="1783080" cy="1097280"/>
          </a:xfrm>
          <a:prstGeom prst="roundRect">
            <a:avLst>
              <a:gd name="adj" fmla="val 8333"/>
            </a:avLst>
          </a:prstGeom>
          <a:solidFill>
            <a:schemeClr val="tx2"/>
          </a:solidFill>
          <a:ln w="12700">
            <a:solidFill>
              <a:schemeClr val="tx2"/>
            </a:solidFill>
            <a:prstDash val="solid"/>
          </a:ln>
        </p:spPr>
      </p:sp>
      <p:sp>
        <p:nvSpPr>
          <p:cNvPr id="9" name="Number badge"/>
          <p:cNvSpPr/>
          <p:nvPr/>
        </p:nvSpPr>
        <p:spPr>
          <a:xfrm>
            <a:off x="2743200" y="3337560"/>
            <a:ext cx="365760" cy="365760"/>
          </a:xfrm>
          <a:prstGeom prst="ellipse">
            <a:avLst/>
          </a:prstGeom>
          <a:solidFill>
            <a:schemeClr val="accent1"/>
          </a:solidFill>
          <a:ln w="12700">
            <a:solidFill>
              <a:schemeClr val="accent1"/>
            </a:solidFill>
            <a:prstDash val="solid"/>
          </a:ln>
        </p:spPr>
      </p:sp>
      <p:sp>
        <p:nvSpPr>
          <p:cNvPr id="10" name="Text 8"/>
          <p:cNvSpPr txBox="1"/>
          <p:nvPr/>
        </p:nvSpPr>
        <p:spPr>
          <a:xfrm>
            <a:off x="2743200" y="33375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9"/>
          <p:cNvSpPr txBox="1"/>
          <p:nvPr/>
        </p:nvSpPr>
        <p:spPr>
          <a:xfrm>
            <a:off x="2743200" y="3794760"/>
            <a:ext cx="1554480" cy="457200"/>
          </a:xfrm>
          <a:prstGeom prst="rect">
            <a:avLst/>
          </a:prstGeom>
          <a:noFill/>
          <a:ln/>
        </p:spPr>
        <p:txBody>
          <a:bodyPr wrap="square" lIns="0" tIns="0" rIns="0" bIns="0" rtlCol="0" anchor="t"/>
          <a:lstStyle/>
          <a:p>
            <a:pPr indent="0" marL="0">
              <a:buNone/>
            </a:pPr>
            <a:r>
              <a:rPr lang="en-US" sz="1400" b="1" dirty="0">
                <a:solidFill>
                  <a:schemeClr val="bg1"/>
                </a:solidFill>
              </a:rPr>
              <a:t>Prometheus targets UP</a:t>
            </a:r>
            <a:endParaRPr lang="en-US" sz="1400" dirty="0"/>
          </a:p>
        </p:txBody>
      </p:sp>
      <p:sp>
        <p:nvSpPr>
          <p:cNvPr id="12" name="Card"/>
          <p:cNvSpPr/>
          <p:nvPr/>
        </p:nvSpPr>
        <p:spPr>
          <a:xfrm>
            <a:off x="4572000" y="3200400"/>
            <a:ext cx="1783080" cy="1097280"/>
          </a:xfrm>
          <a:prstGeom prst="roundRect">
            <a:avLst>
              <a:gd name="adj" fmla="val 8333"/>
            </a:avLst>
          </a:prstGeom>
          <a:solidFill>
            <a:schemeClr val="tx2"/>
          </a:solidFill>
          <a:ln w="12700">
            <a:solidFill>
              <a:schemeClr val="tx2"/>
            </a:solidFill>
            <a:prstDash val="solid"/>
          </a:ln>
        </p:spPr>
      </p:sp>
      <p:sp>
        <p:nvSpPr>
          <p:cNvPr id="13" name="Number badge"/>
          <p:cNvSpPr/>
          <p:nvPr/>
        </p:nvSpPr>
        <p:spPr>
          <a:xfrm>
            <a:off x="4709160" y="3337560"/>
            <a:ext cx="365760" cy="365760"/>
          </a:xfrm>
          <a:prstGeom prst="ellipse">
            <a:avLst/>
          </a:prstGeom>
          <a:solidFill>
            <a:schemeClr val="accent1"/>
          </a:solidFill>
          <a:ln w="12700">
            <a:solidFill>
              <a:schemeClr val="accent1"/>
            </a:solidFill>
            <a:prstDash val="solid"/>
          </a:ln>
        </p:spPr>
      </p:sp>
      <p:sp>
        <p:nvSpPr>
          <p:cNvPr id="14" name="Text 12"/>
          <p:cNvSpPr txBox="1"/>
          <p:nvPr/>
        </p:nvSpPr>
        <p:spPr>
          <a:xfrm>
            <a:off x="4709160" y="33375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3"/>
          <p:cNvSpPr txBox="1"/>
          <p:nvPr/>
        </p:nvSpPr>
        <p:spPr>
          <a:xfrm>
            <a:off x="4709160" y="3794760"/>
            <a:ext cx="1554480" cy="457200"/>
          </a:xfrm>
          <a:prstGeom prst="rect">
            <a:avLst/>
          </a:prstGeom>
          <a:noFill/>
          <a:ln/>
        </p:spPr>
        <p:txBody>
          <a:bodyPr wrap="square" lIns="0" tIns="0" rIns="0" bIns="0" rtlCol="0" anchor="t"/>
          <a:lstStyle/>
          <a:p>
            <a:pPr indent="0" marL="0">
              <a:buNone/>
            </a:pPr>
            <a:r>
              <a:rPr lang="en-US" sz="1400" b="1" dirty="0">
                <a:solidFill>
                  <a:schemeClr val="bg1"/>
                </a:solidFill>
              </a:rPr>
              <a:t>Grafana data source OK</a:t>
            </a:r>
            <a:endParaRPr lang="en-US" sz="1400" dirty="0"/>
          </a:p>
        </p:txBody>
      </p:sp>
      <p:sp>
        <p:nvSpPr>
          <p:cNvPr id="16" name="Card"/>
          <p:cNvSpPr/>
          <p:nvPr/>
        </p:nvSpPr>
        <p:spPr>
          <a:xfrm>
            <a:off x="6537960" y="3200400"/>
            <a:ext cx="1783080" cy="1097280"/>
          </a:xfrm>
          <a:prstGeom prst="roundRect">
            <a:avLst>
              <a:gd name="adj" fmla="val 8333"/>
            </a:avLst>
          </a:prstGeom>
          <a:solidFill>
            <a:schemeClr val="tx2"/>
          </a:solidFill>
          <a:ln w="12700">
            <a:solidFill>
              <a:schemeClr val="tx2"/>
            </a:solidFill>
            <a:prstDash val="solid"/>
          </a:ln>
        </p:spPr>
      </p:sp>
      <p:sp>
        <p:nvSpPr>
          <p:cNvPr id="17" name="Number badge"/>
          <p:cNvSpPr/>
          <p:nvPr/>
        </p:nvSpPr>
        <p:spPr>
          <a:xfrm>
            <a:off x="6675120" y="3337560"/>
            <a:ext cx="365760" cy="365760"/>
          </a:xfrm>
          <a:prstGeom prst="ellipse">
            <a:avLst/>
          </a:prstGeom>
          <a:solidFill>
            <a:schemeClr val="accent1"/>
          </a:solidFill>
          <a:ln w="12700">
            <a:solidFill>
              <a:schemeClr val="accent1"/>
            </a:solidFill>
            <a:prstDash val="solid"/>
          </a:ln>
        </p:spPr>
      </p:sp>
      <p:sp>
        <p:nvSpPr>
          <p:cNvPr id="18" name="Text 16"/>
          <p:cNvSpPr txBox="1"/>
          <p:nvPr/>
        </p:nvSpPr>
        <p:spPr>
          <a:xfrm>
            <a:off x="6675120" y="33375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7"/>
          <p:cNvSpPr txBox="1"/>
          <p:nvPr/>
        </p:nvSpPr>
        <p:spPr>
          <a:xfrm>
            <a:off x="6675120" y="3794760"/>
            <a:ext cx="1554480" cy="457200"/>
          </a:xfrm>
          <a:prstGeom prst="rect">
            <a:avLst/>
          </a:prstGeom>
          <a:noFill/>
          <a:ln/>
        </p:spPr>
        <p:txBody>
          <a:bodyPr wrap="square" lIns="0" tIns="0" rIns="0" bIns="0" rtlCol="0" anchor="t"/>
          <a:lstStyle/>
          <a:p>
            <a:pPr indent="0" marL="0">
              <a:buNone/>
            </a:pPr>
            <a:r>
              <a:rPr lang="en-US" sz="1400" b="1" dirty="0">
                <a:solidFill>
                  <a:schemeClr val="bg1"/>
                </a:solidFill>
              </a:rPr>
              <a:t>CPU &amp; memory graphs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40080" y="1005840"/>
            <a:ext cx="7680960" cy="1371600"/>
          </a:xfrm>
          <a:prstGeom prst="rect">
            <a:avLst/>
          </a:prstGeom>
          <a:noFill/>
          <a:ln/>
        </p:spPr>
        <p:txBody>
          <a:bodyPr wrap="square" lIns="0" tIns="0" rIns="0" bIns="0" rtlCol="0" anchor="b"/>
          <a:lstStyle/>
          <a:p>
            <a:pPr algn="l" indent="0" marL="0">
              <a:buNone/>
            </a:pPr>
            <a:r>
              <a:rPr lang="en-US" sz="4000" b="1" dirty="0">
                <a:solidFill>
                  <a:schemeClr val="bg1"/>
                </a:solidFill>
              </a:rPr>
              <a:t>Thank You</a:t>
            </a:r>
            <a:endParaRPr lang="en-US" sz="4000" dirty="0"/>
          </a:p>
        </p:txBody>
      </p:sp>
      <p:sp>
        <p:nvSpPr>
          <p:cNvPr id="3" name="Text 1"/>
          <p:cNvSpPr/>
          <p:nvPr/>
        </p:nvSpPr>
        <p:spPr>
          <a:xfrm>
            <a:off x="640080" y="2468880"/>
            <a:ext cx="7680960" cy="640080"/>
          </a:xfrm>
          <a:prstGeom prst="rect">
            <a:avLst/>
          </a:prstGeom>
          <a:noFill/>
          <a:ln/>
        </p:spPr>
        <p:txBody>
          <a:bodyPr wrap="square" lIns="0" tIns="0" rIns="0" bIns="0" rtlCol="0" anchor="t"/>
          <a:lstStyle/>
          <a:p>
            <a:pPr algn="l" indent="0" marL="0">
              <a:buNone/>
            </a:pPr>
            <a:r>
              <a:rPr lang="en-US" sz="2000" dirty="0">
                <a:solidFill>
                  <a:schemeClr val="accent6"/>
                </a:solidFill>
              </a:rPr>
              <a:t>Questions?</a:t>
            </a:r>
            <a:endParaRPr lang="en-US" sz="2000" dirty="0"/>
          </a:p>
        </p:txBody>
      </p:sp>
      <p:sp>
        <p:nvSpPr>
          <p:cNvPr id="4" name="Icon circle"/>
          <p:cNvSpPr/>
          <p:nvPr/>
        </p:nvSpPr>
        <p:spPr>
          <a:xfrm>
            <a:off x="640080" y="3566160"/>
            <a:ext cx="640080" cy="640080"/>
          </a:xfrm>
          <a:prstGeom prst="ellipse">
            <a:avLst/>
          </a:prstGeom>
          <a:solidFill>
            <a:schemeClr val="accent3"/>
          </a:solidFill>
          <a:ln w="12700">
            <a:solidFill>
              <a:schemeClr val="accent3"/>
            </a:solidFill>
            <a:prstDash val="solid"/>
          </a:ln>
        </p:spPr>
      </p:sp>
      <p:pic>
        <p:nvPicPr>
          <p:cNvPr id="5" name="Image 0" descr="FaCloud">    </p:cNvPr>
          <p:cNvPicPr>
            <a:picLocks noChangeAspect="1"/>
          </p:cNvPicPr>
          <p:nvPr/>
        </p:nvPicPr>
        <p:blipFill>
          <a:blip r:embed="rId1"/>
          <a:stretch>
            <a:fillRect/>
          </a:stretch>
        </p:blipFill>
        <p:spPr>
          <a:xfrm>
            <a:off x="800100" y="3726180"/>
            <a:ext cx="320040" cy="320040"/>
          </a:xfrm>
          <a:prstGeom prst="rect">
            <a:avLst/>
          </a:prstGeom>
        </p:spPr>
      </p:pic>
      <p:sp>
        <p:nvSpPr>
          <p:cNvPr id="6" name="Icon circle"/>
          <p:cNvSpPr/>
          <p:nvPr/>
        </p:nvSpPr>
        <p:spPr>
          <a:xfrm>
            <a:off x="1463040" y="3566160"/>
            <a:ext cx="640080" cy="640080"/>
          </a:xfrm>
          <a:prstGeom prst="ellipse">
            <a:avLst/>
          </a:prstGeom>
          <a:solidFill>
            <a:schemeClr val="accent1"/>
          </a:solidFill>
          <a:ln w="12700">
            <a:solidFill>
              <a:schemeClr val="accent1"/>
            </a:solidFill>
            <a:prstDash val="solid"/>
          </a:ln>
        </p:spPr>
      </p:sp>
      <p:pic>
        <p:nvPicPr>
          <p:cNvPr id="7" name="Image 1" descr="FaDatabase">    </p:cNvPr>
          <p:cNvPicPr>
            <a:picLocks noChangeAspect="1"/>
          </p:cNvPicPr>
          <p:nvPr/>
        </p:nvPicPr>
        <p:blipFill>
          <a:blip r:embed="rId2"/>
          <a:stretch>
            <a:fillRect/>
          </a:stretch>
        </p:blipFill>
        <p:spPr>
          <a:xfrm>
            <a:off x="1623060" y="3726180"/>
            <a:ext cx="320040" cy="320040"/>
          </a:xfrm>
          <a:prstGeom prst="rect">
            <a:avLst/>
          </a:prstGeom>
        </p:spPr>
      </p:pic>
      <p:sp>
        <p:nvSpPr>
          <p:cNvPr id="8" name="Icon circle"/>
          <p:cNvSpPr/>
          <p:nvPr/>
        </p:nvSpPr>
        <p:spPr>
          <a:xfrm>
            <a:off x="2286000" y="3566160"/>
            <a:ext cx="640080" cy="640080"/>
          </a:xfrm>
          <a:prstGeom prst="ellipse">
            <a:avLst/>
          </a:prstGeom>
          <a:solidFill>
            <a:schemeClr val="accent4"/>
          </a:solidFill>
          <a:ln w="12700">
            <a:solidFill>
              <a:schemeClr val="accent4"/>
            </a:solidFill>
            <a:prstDash val="solid"/>
          </a:ln>
        </p:spPr>
      </p:sp>
      <p:pic>
        <p:nvPicPr>
          <p:cNvPr id="9" name="Image 2" descr="FaChartLine">    </p:cNvPr>
          <p:cNvPicPr>
            <a:picLocks noChangeAspect="1"/>
          </p:cNvPicPr>
          <p:nvPr/>
        </p:nvPicPr>
        <p:blipFill>
          <a:blip r:embed="rId3"/>
          <a:stretch>
            <a:fillRect/>
          </a:stretch>
        </p:blipFill>
        <p:spPr>
          <a:xfrm>
            <a:off x="2446020" y="3726180"/>
            <a:ext cx="320040" cy="320040"/>
          </a:xfrm>
          <a:prstGeom prst="rect">
            <a:avLst/>
          </a:prstGeom>
        </p:spPr>
      </p:pic>
    </p:spTree>
  </p:cSld>
  <p:clrMapOvr>
    <a:masterClrMapping/>
  </p:clrMapOvr>
</p:sld>
</file>

<file path=ppt/theme/theme1.xml><?xml version="1.0" encoding="utf-8"?>
<a:theme xmlns:a="http://schemas.openxmlformats.org/drawingml/2006/main" name="Monitoring">
  <a:themeElements>
    <a:clrScheme name="Monitoring">
      <a:dk1>
        <a:srgbClr val="0B1220"/>
      </a:dk1>
      <a:lt1>
        <a:srgbClr val="FFFFFF"/>
      </a:lt1>
      <a:dk2>
        <a:srgbClr val="1E293B"/>
      </a:dk2>
      <a:lt2>
        <a:srgbClr val="F1F5F9"/>
      </a:lt2>
      <a:accent1>
        <a:srgbClr val="E8590C"/>
      </a:accent1>
      <a:accent2>
        <a:srgbClr val="0D9488"/>
      </a:accent2>
      <a:accent3>
        <a:srgbClr val="F59E0B"/>
      </a:accent3>
      <a:accent4>
        <a:srgbClr val="2563EB"/>
      </a:accent4>
      <a:accent5>
        <a:srgbClr val="64748B"/>
      </a:accent5>
      <a:accent6>
        <a:srgbClr val="E2E8F0"/>
      </a:accent6>
      <a:hlink>
        <a:srgbClr val="2563EB"/>
      </a:hlink>
      <a:folHlink>
        <a:srgbClr val="64748B"/>
      </a:folHlink>
    </a:clrScheme>
    <a:fontScheme name="Monitor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EC2 Monitoring using CloudWatch, Prometheus &amp; Grafana</dc:title>
  <dc:subject>PptxGenJS Presentation</dc:subject>
  <dc:creator>PptxGenJS</dc:creator>
  <cp:lastModifiedBy>PptxGenJS</cp:lastModifiedBy>
  <cp:revision>1</cp:revision>
  <dcterms:created xsi:type="dcterms:W3CDTF">2026-10-09T17:01:32Z</dcterms:created>
  <dcterms:modified xsi:type="dcterms:W3CDTF">2026-10-09T17:01:32Z</dcterms:modified>
</cp:coreProperties>
</file>